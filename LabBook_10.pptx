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4"/>
  </p:notesMasterIdLst>
  <p:handoutMasterIdLst>
    <p:handoutMasterId r:id="rId15"/>
  </p:handoutMasterIdLst>
  <p:sldIdLst>
    <p:sldId id="256" r:id="rId2"/>
    <p:sldId id="295" r:id="rId3"/>
    <p:sldId id="290" r:id="rId4"/>
    <p:sldId id="292" r:id="rId5"/>
    <p:sldId id="297" r:id="rId6"/>
    <p:sldId id="300" r:id="rId7"/>
    <p:sldId id="293" r:id="rId8"/>
    <p:sldId id="303" r:id="rId9"/>
    <p:sldId id="301" r:id="rId10"/>
    <p:sldId id="302" r:id="rId11"/>
    <p:sldId id="298" r:id="rId12"/>
    <p:sldId id="288" r:id="rId13"/>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243A380-F68D-4B97-8CF0-04FACEB71A64}" v="8" dt="2026-02-16T10:00:04.333"/>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5033" autoAdjust="0"/>
  </p:normalViewPr>
  <p:slideViewPr>
    <p:cSldViewPr>
      <p:cViewPr varScale="1">
        <p:scale>
          <a:sx n="51" d="100"/>
          <a:sy n="51" d="100"/>
        </p:scale>
        <p:origin x="58" y="758"/>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21"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ian Camilo Cano Vasquez" userId="8c73a2a4-758b-4e34-81ed-39462e48bd92" providerId="ADAL" clId="{E6287060-0277-4BCC-9556-78F4A9113EC4}"/>
    <pc:docChg chg="custSel addSld delSld modSld">
      <pc:chgData name="Christian Camilo Cano Vasquez" userId="8c73a2a4-758b-4e34-81ed-39462e48bd92" providerId="ADAL" clId="{E6287060-0277-4BCC-9556-78F4A9113EC4}" dt="2026-02-16T10:00:04.333" v="112"/>
      <pc:docMkLst>
        <pc:docMk/>
      </pc:docMkLst>
      <pc:sldChg chg="addSp delSp modSp mod">
        <pc:chgData name="Christian Camilo Cano Vasquez" userId="8c73a2a4-758b-4e34-81ed-39462e48bd92" providerId="ADAL" clId="{E6287060-0277-4BCC-9556-78F4A9113EC4}" dt="2026-02-16T09:54:36.314" v="109" actId="20577"/>
        <pc:sldMkLst>
          <pc:docMk/>
          <pc:sldMk cId="730501311" sldId="290"/>
        </pc:sldMkLst>
        <pc:spChg chg="add mod">
          <ac:chgData name="Christian Camilo Cano Vasquez" userId="8c73a2a4-758b-4e34-81ed-39462e48bd92" providerId="ADAL" clId="{E6287060-0277-4BCC-9556-78F4A9113EC4}" dt="2026-02-16T09:48:48.742" v="10" actId="1076"/>
          <ac:spMkLst>
            <pc:docMk/>
            <pc:sldMk cId="730501311" sldId="290"/>
            <ac:spMk id="2" creationId="{029F2FF9-FEB4-7AA3-B3B4-EFA9CFA0E230}"/>
          </ac:spMkLst>
        </pc:spChg>
        <pc:spChg chg="add mod">
          <ac:chgData name="Christian Camilo Cano Vasquez" userId="8c73a2a4-758b-4e34-81ed-39462e48bd92" providerId="ADAL" clId="{E6287060-0277-4BCC-9556-78F4A9113EC4}" dt="2026-02-16T09:49:37.395" v="33" actId="20577"/>
          <ac:spMkLst>
            <pc:docMk/>
            <pc:sldMk cId="730501311" sldId="290"/>
            <ac:spMk id="4" creationId="{C2C94B57-6111-4070-F6BA-8C3B9C305618}"/>
          </ac:spMkLst>
        </pc:spChg>
        <pc:spChg chg="del">
          <ac:chgData name="Christian Camilo Cano Vasquez" userId="8c73a2a4-758b-4e34-81ed-39462e48bd92" providerId="ADAL" clId="{E6287060-0277-4BCC-9556-78F4A9113EC4}" dt="2026-02-16T09:48:32.837" v="5" actId="478"/>
          <ac:spMkLst>
            <pc:docMk/>
            <pc:sldMk cId="730501311" sldId="290"/>
            <ac:spMk id="7" creationId="{F917B3AA-589C-A90A-EE95-EE60C6D04663}"/>
          </ac:spMkLst>
        </pc:spChg>
        <pc:spChg chg="del">
          <ac:chgData name="Christian Camilo Cano Vasquez" userId="8c73a2a4-758b-4e34-81ed-39462e48bd92" providerId="ADAL" clId="{E6287060-0277-4BCC-9556-78F4A9113EC4}" dt="2026-02-16T09:48:32.837" v="5" actId="478"/>
          <ac:spMkLst>
            <pc:docMk/>
            <pc:sldMk cId="730501311" sldId="290"/>
            <ac:spMk id="9" creationId="{793F5757-34AB-6F24-0981-9F1F15A0ADF8}"/>
          </ac:spMkLst>
        </pc:spChg>
        <pc:spChg chg="del">
          <ac:chgData name="Christian Camilo Cano Vasquez" userId="8c73a2a4-758b-4e34-81ed-39462e48bd92" providerId="ADAL" clId="{E6287060-0277-4BCC-9556-78F4A9113EC4}" dt="2026-02-16T09:48:35.096" v="6" actId="478"/>
          <ac:spMkLst>
            <pc:docMk/>
            <pc:sldMk cId="730501311" sldId="290"/>
            <ac:spMk id="11" creationId="{8BD4C233-B5D9-B6AA-93A8-CF2F130CFF9C}"/>
          </ac:spMkLst>
        </pc:spChg>
        <pc:spChg chg="mod">
          <ac:chgData name="Christian Camilo Cano Vasquez" userId="8c73a2a4-758b-4e34-81ed-39462e48bd92" providerId="ADAL" clId="{E6287060-0277-4BCC-9556-78F4A9113EC4}" dt="2026-02-16T09:54:36.314" v="109" actId="20577"/>
          <ac:spMkLst>
            <pc:docMk/>
            <pc:sldMk cId="730501311" sldId="290"/>
            <ac:spMk id="16" creationId="{471E1424-6C4B-2D9A-1352-30AFB987AD41}"/>
          </ac:spMkLst>
        </pc:spChg>
      </pc:sldChg>
      <pc:sldChg chg="modSp add del mod">
        <pc:chgData name="Christian Camilo Cano Vasquez" userId="8c73a2a4-758b-4e34-81ed-39462e48bd92" providerId="ADAL" clId="{E6287060-0277-4BCC-9556-78F4A9113EC4}" dt="2026-02-16T09:54:44.707" v="111" actId="20577"/>
        <pc:sldMkLst>
          <pc:docMk/>
          <pc:sldMk cId="2900117438" sldId="292"/>
        </pc:sldMkLst>
        <pc:spChg chg="mod">
          <ac:chgData name="Christian Camilo Cano Vasquez" userId="8c73a2a4-758b-4e34-81ed-39462e48bd92" providerId="ADAL" clId="{E6287060-0277-4BCC-9556-78F4A9113EC4}" dt="2026-02-16T09:51:39.768" v="80" actId="313"/>
          <ac:spMkLst>
            <pc:docMk/>
            <pc:sldMk cId="2900117438" sldId="292"/>
            <ac:spMk id="2" creationId="{82A62DD6-5488-72A1-9926-0CAEE59089A9}"/>
          </ac:spMkLst>
        </pc:spChg>
        <pc:spChg chg="mod">
          <ac:chgData name="Christian Camilo Cano Vasquez" userId="8c73a2a4-758b-4e34-81ed-39462e48bd92" providerId="ADAL" clId="{E6287060-0277-4BCC-9556-78F4A9113EC4}" dt="2026-02-16T09:54:44.707" v="111" actId="20577"/>
          <ac:spMkLst>
            <pc:docMk/>
            <pc:sldMk cId="2900117438" sldId="292"/>
            <ac:spMk id="16" creationId="{6AA2E789-F7AE-F068-274C-E0F13A22DBCA}"/>
          </ac:spMkLst>
        </pc:spChg>
      </pc:sldChg>
      <pc:sldChg chg="modSp add del mod">
        <pc:chgData name="Christian Camilo Cano Vasquez" userId="8c73a2a4-758b-4e34-81ed-39462e48bd92" providerId="ADAL" clId="{E6287060-0277-4BCC-9556-78F4A9113EC4}" dt="2026-02-16T09:50:51.822" v="37" actId="20577"/>
        <pc:sldMkLst>
          <pc:docMk/>
          <pc:sldMk cId="3660438245" sldId="293"/>
        </pc:sldMkLst>
        <pc:spChg chg="mod">
          <ac:chgData name="Christian Camilo Cano Vasquez" userId="8c73a2a4-758b-4e34-81ed-39462e48bd92" providerId="ADAL" clId="{E6287060-0277-4BCC-9556-78F4A9113EC4}" dt="2026-02-16T09:45:25.127" v="4" actId="115"/>
          <ac:spMkLst>
            <pc:docMk/>
            <pc:sldMk cId="3660438245" sldId="293"/>
            <ac:spMk id="2" creationId="{FDE3A197-9508-F9F1-1FEB-FF883D78C151}"/>
          </ac:spMkLst>
        </pc:spChg>
        <pc:spChg chg="mod">
          <ac:chgData name="Christian Camilo Cano Vasquez" userId="8c73a2a4-758b-4e34-81ed-39462e48bd92" providerId="ADAL" clId="{E6287060-0277-4BCC-9556-78F4A9113EC4}" dt="2026-02-16T09:50:51.822" v="37" actId="20577"/>
          <ac:spMkLst>
            <pc:docMk/>
            <pc:sldMk cId="3660438245" sldId="293"/>
            <ac:spMk id="16" creationId="{742C31CE-19F0-B995-0997-9A2D6A879BF7}"/>
          </ac:spMkLst>
        </pc:spChg>
      </pc:sldChg>
      <pc:sldChg chg="modSp mod">
        <pc:chgData name="Christian Camilo Cano Vasquez" userId="8c73a2a4-758b-4e34-81ed-39462e48bd92" providerId="ADAL" clId="{E6287060-0277-4BCC-9556-78F4A9113EC4}" dt="2026-02-16T10:00:04.333" v="112"/>
        <pc:sldMkLst>
          <pc:docMk/>
          <pc:sldMk cId="473922805" sldId="295"/>
        </pc:sldMkLst>
        <pc:spChg chg="mod">
          <ac:chgData name="Christian Camilo Cano Vasquez" userId="8c73a2a4-758b-4e34-81ed-39462e48bd92" providerId="ADAL" clId="{E6287060-0277-4BCC-9556-78F4A9113EC4}" dt="2026-02-16T10:00:04.333" v="112"/>
          <ac:spMkLst>
            <pc:docMk/>
            <pc:sldMk cId="473922805" sldId="295"/>
            <ac:spMk id="4" creationId="{9F7BC140-B3D8-C3CB-55AD-9064C7CDE9CA}"/>
          </ac:spMkLst>
        </pc:spChg>
      </pc:sldChg>
      <pc:sldChg chg="del">
        <pc:chgData name="Christian Camilo Cano Vasquez" userId="8c73a2a4-758b-4e34-81ed-39462e48bd92" providerId="ADAL" clId="{E6287060-0277-4BCC-9556-78F4A9113EC4}" dt="2026-02-16T09:50:39.931" v="34" actId="47"/>
        <pc:sldMkLst>
          <pc:docMk/>
          <pc:sldMk cId="1245186850" sldId="296"/>
        </pc:sldMkLst>
      </pc:sldChg>
      <pc:sldChg chg="modSp add del">
        <pc:chgData name="Christian Camilo Cano Vasquez" userId="8c73a2a4-758b-4e34-81ed-39462e48bd92" providerId="ADAL" clId="{E6287060-0277-4BCC-9556-78F4A9113EC4}" dt="2026-02-16T09:50:57.288" v="39" actId="20577"/>
        <pc:sldMkLst>
          <pc:docMk/>
          <pc:sldMk cId="236054401" sldId="297"/>
        </pc:sldMkLst>
        <pc:spChg chg="mod">
          <ac:chgData name="Christian Camilo Cano Vasquez" userId="8c73a2a4-758b-4e34-81ed-39462e48bd92" providerId="ADAL" clId="{E6287060-0277-4BCC-9556-78F4A9113EC4}" dt="2026-02-16T09:50:57.288" v="39" actId="20577"/>
          <ac:spMkLst>
            <pc:docMk/>
            <pc:sldMk cId="236054401" sldId="297"/>
            <ac:spMk id="16" creationId="{394400B4-EE16-8E85-AB54-E82FE3B2934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06/03/2026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06/03/2026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AA65-166B-474B-A6C9-9858D86A944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8158223-A8BA-05F6-464C-EC03A9FB8C56}"/>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CB4DF-C329-8F47-9ECE-661B5B2BF9AC}"/>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041B2276-A4E2-DFBF-0088-6997E86C9FE1}"/>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23623159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382929-150A-F6B5-1271-2D201A57D89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26BA7AD-A800-2B78-9D84-C03A0BE93D9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B858290C-8B6D-32D9-82C1-847D602FD85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9B786E-D589-A90F-C82B-20BC1BF1984A}"/>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31104436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291738271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B2EBEF-C857-F457-FED8-5A874FC8339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7A139A0-C2CC-DFD6-929E-A6984A94B537}"/>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A12A8A0A-0A30-CF25-FDFF-4558A93BB0F0}"/>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8A459BF-7344-497E-E4C0-0A0FEBE7416F}"/>
              </a:ext>
            </a:extLst>
          </p:cNvPr>
          <p:cNvSpPr>
            <a:spLocks noGrp="1"/>
          </p:cNvSpPr>
          <p:nvPr>
            <p:ph type="sldNum" sz="quarter" idx="5"/>
          </p:nvPr>
        </p:nvSpPr>
        <p:spPr/>
        <p:txBody>
          <a:bodyPr/>
          <a:lstStyle/>
          <a:p>
            <a:fld id="{676223B9-C868-4436-87D9-1A3152E1157A}" type="slidenum">
              <a:rPr lang="es-ES" smtClean="0"/>
              <a:t>8</a:t>
            </a:fld>
            <a:endParaRPr lang="es-ES"/>
          </a:p>
        </p:txBody>
      </p:sp>
    </p:spTree>
    <p:extLst>
      <p:ext uri="{BB962C8B-B14F-4D97-AF65-F5344CB8AC3E}">
        <p14:creationId xmlns:p14="http://schemas.microsoft.com/office/powerpoint/2010/main" val="237889033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1.0. WAVEGUIDES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hyperlink" Target="https://github.com/cccanvas-upv/pic-upv-lab1"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70.png"/><Relationship Id="rId7" Type="http://schemas.openxmlformats.org/officeDocument/2006/relationships/image" Target="NUL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NULL"/><Relationship Id="rId5" Type="http://schemas.openxmlformats.org/officeDocument/2006/relationships/image" Target="../media/image4.svg"/><Relationship Id="rId10" Type="http://schemas.openxmlformats.org/officeDocument/2006/relationships/image" Target="../media/image11.png"/><Relationship Id="rId4" Type="http://schemas.openxmlformats.org/officeDocument/2006/relationships/image" Target="../media/image3.png"/><Relationship Id="rId9"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8.png"/><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5.xml"/><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1.0. </a:t>
            </a:r>
            <a:r>
              <a:rPr lang="es-ES" sz="3200" b="1" dirty="0" err="1">
                <a:latin typeface="Lucida Sans"/>
                <a:cs typeface="Lucida Sans"/>
              </a:rPr>
              <a:t>Waveguides</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a:t>
            </a:r>
            <a:r>
              <a:rPr lang="es-ES" dirty="0" err="1">
                <a:hlinkClick r:id="rId4"/>
              </a:rPr>
              <a:t>cccanvas-upv</a:t>
            </a:r>
            <a:r>
              <a:rPr lang="es-ES">
                <a:hlinkClick r:id="rId4"/>
              </a:rPr>
              <a:t>/pic-upv-lab1</a:t>
            </a:r>
            <a:endParaRPr lang="en-US" kern="0" dirty="0">
              <a:solidFill>
                <a:sysClr val="windowText" lastClr="000000"/>
              </a:solidFill>
              <a:sym typeface="Wingdings" pitchFamily="2" charset="2"/>
            </a:endParaRP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WAVEGUIDES_Student.ipynb</a:t>
            </a:r>
            <a:r>
              <a:rPr lang="en-US" kern="0" dirty="0">
                <a:solidFill>
                  <a:sysClr val="windowText" lastClr="000000"/>
                </a:solidFill>
              </a:rPr>
              <a:t> </a:t>
            </a:r>
          </a:p>
          <a:p>
            <a:pPr algn="just"/>
            <a:endParaRPr lang="en-US" sz="2000" b="1" i="1" u="sng"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902765" y="3422925"/>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a:p>
        </p:txBody>
      </p:sp>
      <p:sp>
        <p:nvSpPr>
          <p:cNvPr id="97" name="object 62">
            <a:extLst>
              <a:ext uri="{FF2B5EF4-FFF2-40B4-BE49-F238E27FC236}">
                <a16:creationId xmlns:a16="http://schemas.microsoft.com/office/drawing/2014/main" id="{13E0425E-CEDF-CBC4-B34B-0CC3951920EA}"/>
              </a:ext>
            </a:extLst>
          </p:cNvPr>
          <p:cNvSpPr/>
          <p:nvPr/>
        </p:nvSpPr>
        <p:spPr>
          <a:xfrm>
            <a:off x="1747061" y="3983757"/>
            <a:ext cx="76200" cy="986155"/>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091131" y="4210910"/>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endParaRPr sz="1400">
              <a:latin typeface="Calibri"/>
              <a:cs typeface="Calibri"/>
            </a:endParaRP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endParaRPr sz="1400">
              <a:latin typeface="Calibri"/>
              <a:cs typeface="Calibri"/>
            </a:endParaRPr>
          </a:p>
        </p:txBody>
      </p:sp>
      <p:sp>
        <p:nvSpPr>
          <p:cNvPr id="99" name="object 64">
            <a:extLst>
              <a:ext uri="{FF2B5EF4-FFF2-40B4-BE49-F238E27FC236}">
                <a16:creationId xmlns:a16="http://schemas.microsoft.com/office/drawing/2014/main" id="{ABAAA5DD-56CA-BF94-2180-F0866658B6B3}"/>
              </a:ext>
            </a:extLst>
          </p:cNvPr>
          <p:cNvSpPr/>
          <p:nvPr/>
        </p:nvSpPr>
        <p:spPr>
          <a:xfrm>
            <a:off x="1984805" y="3773445"/>
            <a:ext cx="1758314" cy="76200"/>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504743" y="3532730"/>
            <a:ext cx="733425" cy="240029"/>
          </a:xfrm>
          <a:prstGeom prst="rect">
            <a:avLst/>
          </a:prstGeom>
        </p:spPr>
        <p:txBody>
          <a:bodyPr vert="horz" wrap="square" lIns="0" tIns="13335" rIns="0" bIns="0" rtlCol="0">
            <a:spAutoFit/>
          </a:bodyPr>
          <a:lstStyle/>
          <a:p>
            <a:pPr>
              <a:lnSpc>
                <a:spcPct val="100000"/>
              </a:lnSpc>
              <a:spcBef>
                <a:spcPts val="105"/>
              </a:spcBef>
            </a:pPr>
            <a:r>
              <a:rPr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1984805" y="3983757"/>
            <a:ext cx="1758950" cy="986155"/>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3983988" y="4338253"/>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391400" y="3422925"/>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a:p>
        </p:txBody>
      </p:sp>
      <p:sp>
        <p:nvSpPr>
          <p:cNvPr id="114" name="object 64">
            <a:extLst>
              <a:ext uri="{FF2B5EF4-FFF2-40B4-BE49-F238E27FC236}">
                <a16:creationId xmlns:a16="http://schemas.microsoft.com/office/drawing/2014/main" id="{D9E5D738-CA47-1898-E0D8-DFBC514F5A50}"/>
              </a:ext>
            </a:extLst>
          </p:cNvPr>
          <p:cNvSpPr/>
          <p:nvPr/>
        </p:nvSpPr>
        <p:spPr>
          <a:xfrm>
            <a:off x="8473440" y="3773445"/>
            <a:ext cx="1758314" cy="76200"/>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93378" y="3532730"/>
            <a:ext cx="733425" cy="240029"/>
          </a:xfrm>
          <a:prstGeom prst="rect">
            <a:avLst/>
          </a:prstGeom>
        </p:spPr>
        <p:txBody>
          <a:bodyPr vert="horz" wrap="square" lIns="0" tIns="13335" rIns="0" bIns="0" rtlCol="0">
            <a:spAutoFit/>
          </a:bodyPr>
          <a:lstStyle/>
          <a:p>
            <a:pPr>
              <a:lnSpc>
                <a:spcPct val="100000"/>
              </a:lnSpc>
              <a:spcBef>
                <a:spcPts val="105"/>
              </a:spcBef>
            </a:pPr>
            <a:r>
              <a:rPr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8473440" y="3983757"/>
            <a:ext cx="1758950" cy="986155"/>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10472623" y="4338253"/>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20" name="object 73">
            <a:extLst>
              <a:ext uri="{FF2B5EF4-FFF2-40B4-BE49-F238E27FC236}">
                <a16:creationId xmlns:a16="http://schemas.microsoft.com/office/drawing/2014/main" id="{C699977C-9138-F9B9-E43D-0CCB01AEB75F}"/>
              </a:ext>
            </a:extLst>
          </p:cNvPr>
          <p:cNvSpPr txBox="1"/>
          <p:nvPr/>
        </p:nvSpPr>
        <p:spPr>
          <a:xfrm>
            <a:off x="7391400" y="4690819"/>
            <a:ext cx="39061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lang="es-ES" sz="2350" dirty="0">
              <a:latin typeface="Times New Roman"/>
              <a:cs typeface="Times New Roman"/>
            </a:endParaRPr>
          </a:p>
          <a:p>
            <a:pPr marL="18415">
              <a:lnSpc>
                <a:spcPct val="100000"/>
              </a:lnSpc>
            </a:pPr>
            <a:r>
              <a:rPr lang="es-ES" sz="1600" b="1" spc="-10" dirty="0" err="1">
                <a:latin typeface="Calibri"/>
                <a:cs typeface="Calibri"/>
              </a:rPr>
              <a:t>Slab</a:t>
            </a:r>
            <a:endParaRPr sz="1600" dirty="0">
              <a:latin typeface="Calibri"/>
              <a:cs typeface="Calibri"/>
            </a:endParaRPr>
          </a:p>
        </p:txBody>
      </p:sp>
      <p:sp>
        <p:nvSpPr>
          <p:cNvPr id="112" name="object 62">
            <a:extLst>
              <a:ext uri="{FF2B5EF4-FFF2-40B4-BE49-F238E27FC236}">
                <a16:creationId xmlns:a16="http://schemas.microsoft.com/office/drawing/2014/main" id="{04561701-4B4F-F208-98F6-2DAB5C1138D3}"/>
              </a:ext>
            </a:extLst>
          </p:cNvPr>
          <p:cNvSpPr/>
          <p:nvPr/>
        </p:nvSpPr>
        <p:spPr>
          <a:xfrm>
            <a:off x="8575910" y="3994221"/>
            <a:ext cx="56259" cy="694989"/>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1" name="object 62">
            <a:extLst>
              <a:ext uri="{FF2B5EF4-FFF2-40B4-BE49-F238E27FC236}">
                <a16:creationId xmlns:a16="http://schemas.microsoft.com/office/drawing/2014/main" id="{CCA3B0D6-0C9E-B4A6-FA43-1AB5F1821674}"/>
              </a:ext>
            </a:extLst>
          </p:cNvPr>
          <p:cNvSpPr/>
          <p:nvPr/>
        </p:nvSpPr>
        <p:spPr>
          <a:xfrm>
            <a:off x="8233207" y="4689210"/>
            <a:ext cx="55008" cy="613272"/>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13" name="object 63">
            <a:extLst>
              <a:ext uri="{FF2B5EF4-FFF2-40B4-BE49-F238E27FC236}">
                <a16:creationId xmlns:a16="http://schemas.microsoft.com/office/drawing/2014/main" id="{6394166D-0522-24AD-E666-39FE8A3FDC24}"/>
              </a:ext>
            </a:extLst>
          </p:cNvPr>
          <p:cNvSpPr txBox="1"/>
          <p:nvPr/>
        </p:nvSpPr>
        <p:spPr>
          <a:xfrm>
            <a:off x="8351994" y="4887127"/>
            <a:ext cx="674053" cy="228909"/>
          </a:xfrm>
          <a:prstGeom prst="rect">
            <a:avLst/>
          </a:prstGeom>
        </p:spPr>
        <p:txBody>
          <a:bodyPr vert="horz" wrap="square" lIns="0" tIns="13335" rIns="0" bIns="0" rtlCol="0">
            <a:spAutoFit/>
          </a:bodyPr>
          <a:lstStyle/>
          <a:p>
            <a:pPr marR="3175">
              <a:lnSpc>
                <a:spcPct val="100000"/>
              </a:lnSpc>
              <a:spcBef>
                <a:spcPts val="105"/>
              </a:spcBef>
            </a:pPr>
            <a:r>
              <a:rPr lang="es-ES" sz="1400" dirty="0" err="1">
                <a:latin typeface="Calibri"/>
                <a:cs typeface="Calibri"/>
              </a:rPr>
              <a:t>h_slab</a:t>
            </a:r>
            <a:endParaRPr sz="1400" dirty="0">
              <a:latin typeface="Calibri"/>
              <a:cs typeface="Calibri"/>
            </a:endParaRPr>
          </a:p>
        </p:txBody>
      </p:sp>
      <p:sp>
        <p:nvSpPr>
          <p:cNvPr id="122" name="object 63">
            <a:extLst>
              <a:ext uri="{FF2B5EF4-FFF2-40B4-BE49-F238E27FC236}">
                <a16:creationId xmlns:a16="http://schemas.microsoft.com/office/drawing/2014/main" id="{B589EB7D-B26E-4239-A5C2-F96DBBE82162}"/>
              </a:ext>
            </a:extLst>
          </p:cNvPr>
          <p:cNvSpPr txBox="1"/>
          <p:nvPr/>
        </p:nvSpPr>
        <p:spPr>
          <a:xfrm>
            <a:off x="8706378" y="3990085"/>
            <a:ext cx="1380175" cy="228909"/>
          </a:xfrm>
          <a:prstGeom prst="rect">
            <a:avLst/>
          </a:prstGeom>
        </p:spPr>
        <p:txBody>
          <a:bodyPr vert="horz" wrap="square" lIns="0" tIns="13335" rIns="0" bIns="0" rtlCol="0">
            <a:spAutoFit/>
          </a:bodyPr>
          <a:lstStyle/>
          <a:p>
            <a:pPr marR="3175">
              <a:lnSpc>
                <a:spcPct val="100000"/>
              </a:lnSpc>
              <a:spcBef>
                <a:spcPts val="105"/>
              </a:spcBef>
            </a:pPr>
            <a:r>
              <a:rPr lang="es-ES" sz="1400" spc="-10" dirty="0" err="1">
                <a:latin typeface="Calibri"/>
                <a:cs typeface="Calibri"/>
              </a:rPr>
              <a:t>h_core</a:t>
            </a:r>
            <a:r>
              <a:rPr lang="es-ES" sz="1400" spc="-10" dirty="0">
                <a:latin typeface="Calibri"/>
                <a:cs typeface="Calibri"/>
              </a:rPr>
              <a:t> </a:t>
            </a:r>
            <a:endParaRPr sz="14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9306491" y="5257071"/>
            <a:ext cx="1980542" cy="369332"/>
          </a:xfrm>
          <a:prstGeom prst="rect">
            <a:avLst/>
          </a:prstGeom>
          <a:noFill/>
        </p:spPr>
        <p:txBody>
          <a:bodyPr wrap="none" rtlCol="0">
            <a:spAutoFit/>
          </a:bodyPr>
          <a:lstStyle/>
          <a:p>
            <a:pPr algn="ctr"/>
            <a:r>
              <a:rPr lang="en-US" b="1" dirty="0"/>
              <a:t>shallow</a:t>
            </a:r>
            <a:r>
              <a:rPr lang="en-US" dirty="0"/>
              <a:t> waveguide</a:t>
            </a:r>
          </a:p>
        </p:txBody>
      </p:sp>
      <p:sp>
        <p:nvSpPr>
          <p:cNvPr id="8" name="CuadroTexto 7">
            <a:extLst>
              <a:ext uri="{FF2B5EF4-FFF2-40B4-BE49-F238E27FC236}">
                <a16:creationId xmlns:a16="http://schemas.microsoft.com/office/drawing/2014/main" id="{7336B5D8-2D70-3E7A-336D-AF55EC49DEB8}"/>
              </a:ext>
            </a:extLst>
          </p:cNvPr>
          <p:cNvSpPr txBox="1"/>
          <p:nvPr/>
        </p:nvSpPr>
        <p:spPr>
          <a:xfrm>
            <a:off x="2969899" y="5257071"/>
            <a:ext cx="2157554" cy="369332"/>
          </a:xfrm>
          <a:prstGeom prst="rect">
            <a:avLst/>
          </a:prstGeom>
          <a:noFill/>
        </p:spPr>
        <p:txBody>
          <a:bodyPr wrap="square">
            <a:spAutoFit/>
          </a:bodyPr>
          <a:lstStyle/>
          <a:p>
            <a:pPr algn="ctr"/>
            <a:r>
              <a:rPr lang="en-US" b="1" dirty="0"/>
              <a:t>deep</a:t>
            </a:r>
            <a:r>
              <a:rPr lang="en-US" dirty="0"/>
              <a:t> waveguide</a:t>
            </a:r>
          </a:p>
        </p:txBody>
      </p:sp>
    </p:spTree>
    <p:extLst>
      <p:ext uri="{BB962C8B-B14F-4D97-AF65-F5344CB8AC3E}">
        <p14:creationId xmlns:p14="http://schemas.microsoft.com/office/powerpoint/2010/main" val="4739228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Convergence tests</a:t>
            </a:r>
            <a:br>
              <a:rPr lang="en-US" sz="2500" dirty="0"/>
            </a:br>
            <a:r>
              <a:rPr lang="nl-NL" b="0" dirty="0"/>
              <a:t>DE waveguide, w = 1.2 µm, neff_TE0, wvl 1.55 µm. </a:t>
            </a: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8" name="CuadroTexto 7">
            <a:extLst>
              <a:ext uri="{FF2B5EF4-FFF2-40B4-BE49-F238E27FC236}">
                <a16:creationId xmlns:a16="http://schemas.microsoft.com/office/drawing/2014/main" id="{53A5ECC9-91D2-2918-1681-822F99EB31CD}"/>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neff_TE0 vs </a:t>
            </a:r>
            <a:r>
              <a:rPr lang="en-US" dirty="0" err="1"/>
              <a:t>grid_resolution</a:t>
            </a:r>
            <a:r>
              <a:rPr lang="en-US" dirty="0"/>
              <a:t> plot here</a:t>
            </a:r>
          </a:p>
        </p:txBody>
      </p:sp>
      <p:sp>
        <p:nvSpPr>
          <p:cNvPr id="10" name="CuadroTexto 9">
            <a:extLst>
              <a:ext uri="{FF2B5EF4-FFF2-40B4-BE49-F238E27FC236}">
                <a16:creationId xmlns:a16="http://schemas.microsoft.com/office/drawing/2014/main" id="{C814CDD6-2B59-8488-4EB8-82801B4D3F22}"/>
              </a:ext>
            </a:extLst>
          </p:cNvPr>
          <p:cNvSpPr txBox="1"/>
          <p:nvPr/>
        </p:nvSpPr>
        <p:spPr>
          <a:xfrm>
            <a:off x="583019" y="4572734"/>
            <a:ext cx="11199971" cy="2031325"/>
          </a:xfrm>
          <a:prstGeom prst="rect">
            <a:avLst/>
          </a:prstGeom>
          <a:solidFill>
            <a:schemeClr val="bg1">
              <a:lumMod val="95000"/>
            </a:schemeClr>
          </a:solidFill>
          <a:ln w="28575">
            <a:solidFill>
              <a:srgbClr val="E0700D"/>
            </a:solidFill>
          </a:ln>
        </p:spPr>
        <p:txBody>
          <a:bodyPr wrap="square" rtlCol="0">
            <a:spAutoFit/>
          </a:bodyPr>
          <a:lstStyle/>
          <a:p>
            <a:pPr algn="just"/>
            <a:r>
              <a:rPr lang="en-US" sz="1400" dirty="0">
                <a:latin typeface="Arial" panose="020B0604020202020204" pitchFamily="34" charset="0"/>
                <a:cs typeface="Arial" panose="020B0604020202020204" pitchFamily="34" charset="0"/>
              </a:rPr>
              <a:t>In the first plot, we observe that from a grid resolution of 50 onward, the value converges and stabilizes around </a:t>
            </a:r>
            <a:r>
              <a:rPr lang="en-US" sz="1400" dirty="0" err="1">
                <a:latin typeface="Arial" panose="020B0604020202020204" pitchFamily="34" charset="0"/>
                <a:cs typeface="Arial" panose="020B0604020202020204" pitchFamily="34" charset="0"/>
              </a:rPr>
              <a:t>n_eff</a:t>
            </a:r>
            <a:r>
              <a:rPr lang="en-US" sz="1400" dirty="0">
                <a:latin typeface="Arial" panose="020B0604020202020204" pitchFamily="34" charset="0"/>
                <a:cs typeface="Arial" panose="020B0604020202020204" pitchFamily="34" charset="0"/>
              </a:rPr>
              <a:t> = 1.605. We could use 50 as grid resolution value. However, we can also notice that the value at </a:t>
            </a:r>
            <a:r>
              <a:rPr lang="en-US" sz="1400" dirty="0" err="1">
                <a:latin typeface="Arial" panose="020B0604020202020204" pitchFamily="34" charset="0"/>
                <a:cs typeface="Arial" panose="020B0604020202020204" pitchFamily="34" charset="0"/>
              </a:rPr>
              <a:t>grid_resolution</a:t>
            </a:r>
            <a:r>
              <a:rPr lang="en-US" sz="1400" dirty="0">
                <a:latin typeface="Arial" panose="020B0604020202020204" pitchFamily="34" charset="0"/>
                <a:cs typeface="Arial" panose="020B0604020202020204" pitchFamily="34" charset="0"/>
              </a:rPr>
              <a:t> = 20 is very close to the converged value. For this reason, it would be preferable to use 20 as grid resolution, since it reduces computational cost.</a:t>
            </a:r>
          </a:p>
          <a:p>
            <a:pPr algn="just"/>
            <a:endParaRPr lang="en-US" sz="1400" dirty="0">
              <a:latin typeface="Arial" panose="020B0604020202020204" pitchFamily="34" charset="0"/>
              <a:cs typeface="Arial" panose="020B0604020202020204" pitchFamily="34" charset="0"/>
            </a:endParaRPr>
          </a:p>
          <a:p>
            <a:pPr algn="just"/>
            <a:r>
              <a:rPr lang="en-US" sz="1400" dirty="0">
                <a:latin typeface="Arial" panose="020B0604020202020204" pitchFamily="34" charset="0"/>
                <a:cs typeface="Arial" panose="020B0604020202020204" pitchFamily="34" charset="0"/>
              </a:rPr>
              <a:t>In the second plot, simulated with </a:t>
            </a:r>
            <a:r>
              <a:rPr lang="en-US" sz="1400" dirty="0" err="1">
                <a:latin typeface="Arial" panose="020B0604020202020204" pitchFamily="34" charset="0"/>
                <a:cs typeface="Arial" panose="020B0604020202020204" pitchFamily="34" charset="0"/>
              </a:rPr>
              <a:t>grid_resolution</a:t>
            </a:r>
            <a:r>
              <a:rPr lang="en-US" sz="1400" dirty="0">
                <a:latin typeface="Arial" panose="020B0604020202020204" pitchFamily="34" charset="0"/>
                <a:cs typeface="Arial" panose="020B0604020202020204" pitchFamily="34" charset="0"/>
              </a:rPr>
              <a:t> = 20, we observe that the effective index converges around </a:t>
            </a:r>
            <a:r>
              <a:rPr lang="en-US" sz="1400" dirty="0" err="1">
                <a:latin typeface="Arial" panose="020B0604020202020204" pitchFamily="34" charset="0"/>
                <a:cs typeface="Arial" panose="020B0604020202020204" pitchFamily="34" charset="0"/>
              </a:rPr>
              <a:t>n_eff</a:t>
            </a:r>
            <a:r>
              <a:rPr lang="en-US" sz="1400" dirty="0">
                <a:latin typeface="Arial" panose="020B0604020202020204" pitchFamily="34" charset="0"/>
                <a:cs typeface="Arial" panose="020B0604020202020204" pitchFamily="34" charset="0"/>
              </a:rPr>
              <a:t> = 1.605 from a value of </a:t>
            </a:r>
            <a:r>
              <a:rPr lang="en-US" sz="1400" dirty="0" err="1">
                <a:latin typeface="Arial" panose="020B0604020202020204" pitchFamily="34" charset="0"/>
                <a:cs typeface="Arial" panose="020B0604020202020204" pitchFamily="34" charset="0"/>
              </a:rPr>
              <a:t>max_grid_scaling</a:t>
            </a:r>
            <a:r>
              <a:rPr lang="en-US" sz="1400" dirty="0">
                <a:latin typeface="Arial" panose="020B0604020202020204" pitchFamily="34" charset="0"/>
                <a:cs typeface="Arial" panose="020B0604020202020204" pitchFamily="34" charset="0"/>
              </a:rPr>
              <a:t> = 1.5 onward. </a:t>
            </a:r>
          </a:p>
          <a:p>
            <a:pPr algn="just"/>
            <a:endParaRPr lang="en-US" sz="1400" dirty="0">
              <a:latin typeface="Arial" panose="020B0604020202020204" pitchFamily="34" charset="0"/>
              <a:cs typeface="Arial" panose="020B0604020202020204" pitchFamily="34" charset="0"/>
            </a:endParaRPr>
          </a:p>
          <a:p>
            <a:pPr algn="just"/>
            <a:r>
              <a:rPr lang="en-US" sz="1400" dirty="0">
                <a:latin typeface="Arial" panose="020B0604020202020204" pitchFamily="34" charset="0"/>
                <a:cs typeface="Arial" panose="020B0604020202020204" pitchFamily="34" charset="0"/>
              </a:rPr>
              <a:t>Overall, an appropriate configuration is </a:t>
            </a:r>
            <a:r>
              <a:rPr lang="en-US" sz="1400" dirty="0" err="1">
                <a:latin typeface="Arial" panose="020B0604020202020204" pitchFamily="34" charset="0"/>
                <a:cs typeface="Arial" panose="020B0604020202020204" pitchFamily="34" charset="0"/>
              </a:rPr>
              <a:t>grid_resolution</a:t>
            </a:r>
            <a:r>
              <a:rPr lang="en-US" sz="1400" dirty="0">
                <a:latin typeface="Arial" panose="020B0604020202020204" pitchFamily="34" charset="0"/>
                <a:cs typeface="Arial" panose="020B0604020202020204" pitchFamily="34" charset="0"/>
              </a:rPr>
              <a:t> = 20 and </a:t>
            </a:r>
            <a:r>
              <a:rPr lang="en-US" sz="1400" dirty="0" err="1">
                <a:latin typeface="Arial" panose="020B0604020202020204" pitchFamily="34" charset="0"/>
                <a:cs typeface="Arial" panose="020B0604020202020204" pitchFamily="34" charset="0"/>
              </a:rPr>
              <a:t>max_grid_scaling</a:t>
            </a:r>
            <a:r>
              <a:rPr lang="en-US" sz="1400" dirty="0">
                <a:latin typeface="Arial" panose="020B0604020202020204" pitchFamily="34" charset="0"/>
                <a:cs typeface="Arial" panose="020B0604020202020204" pitchFamily="34" charset="0"/>
              </a:rPr>
              <a:t> = 1.5 in order to obtain a stable effective index with a reasonable simulation time. </a:t>
            </a:r>
          </a:p>
        </p:txBody>
      </p:sp>
      <p:sp>
        <p:nvSpPr>
          <p:cNvPr id="4" name="CuadroTexto 3">
            <a:extLst>
              <a:ext uri="{FF2B5EF4-FFF2-40B4-BE49-F238E27FC236}">
                <a16:creationId xmlns:a16="http://schemas.microsoft.com/office/drawing/2014/main" id="{C2C94B57-6111-4070-F6BA-8C3B9C305618}"/>
              </a:ext>
            </a:extLst>
          </p:cNvPr>
          <p:cNvSpPr txBox="1"/>
          <p:nvPr/>
        </p:nvSpPr>
        <p:spPr>
          <a:xfrm>
            <a:off x="6792815" y="2698951"/>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neff_TE0 vs </a:t>
            </a:r>
            <a:r>
              <a:rPr lang="en-US" dirty="0" err="1"/>
              <a:t>max_grid_scaling</a:t>
            </a:r>
            <a:r>
              <a:rPr lang="en-US" dirty="0"/>
              <a:t> plot here</a:t>
            </a:r>
          </a:p>
        </p:txBody>
      </p:sp>
      <p:pic>
        <p:nvPicPr>
          <p:cNvPr id="7" name="Imagen 6">
            <a:extLst>
              <a:ext uri="{FF2B5EF4-FFF2-40B4-BE49-F238E27FC236}">
                <a16:creationId xmlns:a16="http://schemas.microsoft.com/office/drawing/2014/main" id="{53B8B484-C556-BA90-FDD3-7B5571C4C559}"/>
              </a:ext>
            </a:extLst>
          </p:cNvPr>
          <p:cNvPicPr>
            <a:picLocks noChangeAspect="1"/>
          </p:cNvPicPr>
          <p:nvPr/>
        </p:nvPicPr>
        <p:blipFill>
          <a:blip r:embed="rId5"/>
          <a:stretch>
            <a:fillRect/>
          </a:stretch>
        </p:blipFill>
        <p:spPr>
          <a:xfrm>
            <a:off x="337667" y="1234903"/>
            <a:ext cx="5812374" cy="3161824"/>
          </a:xfrm>
          <a:prstGeom prst="rect">
            <a:avLst/>
          </a:prstGeom>
        </p:spPr>
      </p:pic>
      <p:pic>
        <p:nvPicPr>
          <p:cNvPr id="11" name="Imagen 10">
            <a:extLst>
              <a:ext uri="{FF2B5EF4-FFF2-40B4-BE49-F238E27FC236}">
                <a16:creationId xmlns:a16="http://schemas.microsoft.com/office/drawing/2014/main" id="{11E23C9E-53C7-5B9F-A370-894221BF9071}"/>
              </a:ext>
            </a:extLst>
          </p:cNvPr>
          <p:cNvPicPr>
            <a:picLocks noChangeAspect="1"/>
          </p:cNvPicPr>
          <p:nvPr/>
        </p:nvPicPr>
        <p:blipFill>
          <a:blip r:embed="rId6"/>
          <a:stretch>
            <a:fillRect/>
          </a:stretch>
        </p:blipFill>
        <p:spPr>
          <a:xfrm>
            <a:off x="6032420" y="1209661"/>
            <a:ext cx="5959857" cy="3212308"/>
          </a:xfrm>
          <a:prstGeom prst="rect">
            <a:avLst/>
          </a:prstGeom>
        </p:spPr>
      </p:pic>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Width dependence</a:t>
            </a:r>
            <a:br>
              <a:rPr lang="es-ES" sz="2500" spc="-5" dirty="0">
                <a:latin typeface="+mj-lt"/>
                <a:cs typeface="Lucida Sans"/>
              </a:rPr>
            </a:br>
            <a:r>
              <a:rPr lang="en-US" b="0" dirty="0"/>
              <a:t>Width 0.6 - 1.6 µm (step 0.1 µm) – Wavelength 1.55 µm </a:t>
            </a:r>
            <a:endParaRPr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dirty="0"/>
              <a:t>LAB 0.1. MODESOLVER</a:t>
            </a:r>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077218"/>
          </a:xfrm>
          <a:prstGeom prst="rect">
            <a:avLst/>
          </a:prstGeom>
          <a:solidFill>
            <a:schemeClr val="bg1">
              <a:lumMod val="95000"/>
            </a:schemeClr>
          </a:solidFill>
          <a:ln w="28575">
            <a:solidFill>
              <a:srgbClr val="E0700D"/>
            </a:solidFill>
          </a:ln>
        </p:spPr>
        <p:txBody>
          <a:bodyPr wrap="square" rtlCol="0">
            <a:spAutoFit/>
          </a:bodyPr>
          <a:lstStyle/>
          <a:p>
            <a:pPr algn="just"/>
            <a:r>
              <a:rPr lang="en-US" sz="1600" dirty="0">
                <a:latin typeface="Arial" panose="020B0604020202020204" pitchFamily="34" charset="0"/>
                <a:cs typeface="Arial" panose="020B0604020202020204" pitchFamily="34" charset="0"/>
              </a:rPr>
              <a:t>The plot shows that the effective index of all guided modes increases as the waveguide width grows. The fundamental TE mode (Mode 0) exhibits the highest sensitivity to width variations (it interacts with the side walls). As the width increases, Mode 2 becomes guided. If a higher width were simulated, Mode 3 would also be guided. Moreover, the slopes of Mode 2 and 3 also increase with width. </a:t>
            </a:r>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FBC7D187-267A-ADD4-764C-D3820B8ED302}"/>
              </a:ext>
            </a:extLst>
          </p:cNvPr>
          <p:cNvSpPr/>
          <p:nvPr/>
        </p:nvSpPr>
        <p:spPr>
          <a:xfrm>
            <a:off x="609441" y="1114204"/>
            <a:ext cx="11199971" cy="361019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1EF5BFDA-8EC1-8C73-A932-F36C4DB93C73}"/>
              </a:ext>
            </a:extLst>
          </p:cNvPr>
          <p:cNvSpPr txBox="1"/>
          <p:nvPr/>
        </p:nvSpPr>
        <p:spPr>
          <a:xfrm>
            <a:off x="2286000" y="2671278"/>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plot here</a:t>
            </a:r>
          </a:p>
        </p:txBody>
      </p:sp>
      <p:pic>
        <p:nvPicPr>
          <p:cNvPr id="5" name="Imagen 4">
            <a:extLst>
              <a:ext uri="{FF2B5EF4-FFF2-40B4-BE49-F238E27FC236}">
                <a16:creationId xmlns:a16="http://schemas.microsoft.com/office/drawing/2014/main" id="{7F4EB84E-6C9F-7354-8A57-423659699CD3}"/>
              </a:ext>
            </a:extLst>
          </p:cNvPr>
          <p:cNvPicPr>
            <a:picLocks noChangeAspect="1"/>
          </p:cNvPicPr>
          <p:nvPr/>
        </p:nvPicPr>
        <p:blipFill>
          <a:blip r:embed="rId5"/>
          <a:stretch>
            <a:fillRect/>
          </a:stretch>
        </p:blipFill>
        <p:spPr>
          <a:xfrm>
            <a:off x="3048000" y="1140150"/>
            <a:ext cx="6050040" cy="3521988"/>
          </a:xfrm>
          <a:prstGeom prst="rect">
            <a:avLst/>
          </a:prstGeom>
        </p:spPr>
      </p:pic>
    </p:spTree>
    <p:extLst>
      <p:ext uri="{BB962C8B-B14F-4D97-AF65-F5344CB8AC3E}">
        <p14:creationId xmlns:p14="http://schemas.microsoft.com/office/powerpoint/2010/main" val="29001174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DA0F9-B230-D9FC-3CE7-03BD08CF54F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6" name="object 16">
                <a:extLst>
                  <a:ext uri="{FF2B5EF4-FFF2-40B4-BE49-F238E27FC236}">
                    <a16:creationId xmlns:a16="http://schemas.microsoft.com/office/drawing/2014/main" id="{394400B4-EE16-8E85-AB54-E82FE3B29345}"/>
                  </a:ext>
                </a:extLst>
              </p:cNvPr>
              <p:cNvSpPr txBox="1">
                <a:spLocks noGrp="1"/>
              </p:cNvSpPr>
              <p:nvPr>
                <p:ph type="title"/>
              </p:nvPr>
            </p:nvSpPr>
            <p:spPr>
              <a:xfrm>
                <a:off x="685800" y="408883"/>
                <a:ext cx="10994410" cy="107125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Waveguide compact model</a:t>
                </a:r>
                <a:br>
                  <a:rPr lang="en-US" sz="2500" spc="-5" dirty="0">
                    <a:latin typeface="+mj-lt"/>
                    <a:cs typeface="Lucida Sans"/>
                  </a:rPr>
                </a:br>
                <a:r>
                  <a:rPr lang="en-US" b="0" dirty="0"/>
                  <a:t>Let’s model the waveguide using a second order polynomial: </a:t>
                </a:r>
                <a:br>
                  <a:rPr lang="en-US" b="0" dirty="0"/>
                </a:br>
                <a14:m>
                  <m:oMathPara xmlns:m="http://schemas.openxmlformats.org/officeDocument/2006/math">
                    <m:oMathParaPr>
                      <m:jc m:val="centerGroup"/>
                    </m:oMathParaPr>
                    <m:oMath xmlns:m="http://schemas.openxmlformats.org/officeDocument/2006/math">
                      <m:sSub>
                        <m:sSubPr>
                          <m:ctrlPr>
                            <a:rPr lang="es-ES" b="0" i="1" smtClean="0">
                              <a:latin typeface="Cambria Math" panose="02040503050406030204" pitchFamily="18" charset="0"/>
                            </a:rPr>
                          </m:ctrlPr>
                        </m:sSubPr>
                        <m:e>
                          <m:r>
                            <a:rPr lang="es-ES" b="0" i="1" smtClean="0">
                              <a:latin typeface="Cambria Math" panose="02040503050406030204" pitchFamily="18" charset="0"/>
                            </a:rPr>
                            <m:t>𝑛</m:t>
                          </m:r>
                        </m:e>
                        <m:sub>
                          <m:r>
                            <a:rPr lang="es-ES" b="0" i="1" smtClean="0">
                              <a:latin typeface="Cambria Math" panose="02040503050406030204" pitchFamily="18" charset="0"/>
                            </a:rPr>
                            <m:t>𝑒𝑓𝑓</m:t>
                          </m:r>
                        </m:sub>
                      </m:sSub>
                      <m:d>
                        <m:dPr>
                          <m:ctrlPr>
                            <a:rPr lang="es-ES" b="0" i="1" smtClean="0">
                              <a:latin typeface="Cambria Math" panose="02040503050406030204" pitchFamily="18" charset="0"/>
                            </a:rPr>
                          </m:ctrlPr>
                        </m:dPr>
                        <m:e>
                          <m:r>
                            <a:rPr lang="es-ES" b="0" i="1" smtClean="0">
                              <a:latin typeface="Cambria Math" panose="02040503050406030204" pitchFamily="18" charset="0"/>
                            </a:rPr>
                            <m:t>𝜆</m:t>
                          </m:r>
                        </m:e>
                      </m:d>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𝑛</m:t>
                          </m:r>
                        </m:e>
                        <m:sub>
                          <m:r>
                            <a:rPr lang="es-ES" b="0" i="1" smtClean="0">
                              <a:latin typeface="Cambria Math" panose="02040503050406030204" pitchFamily="18" charset="0"/>
                            </a:rPr>
                            <m:t>1</m:t>
                          </m:r>
                        </m:sub>
                      </m:sSub>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𝑛</m:t>
                          </m:r>
                        </m:e>
                        <m:sub>
                          <m:r>
                            <a:rPr lang="es-ES" b="0" i="1" smtClean="0">
                              <a:latin typeface="Cambria Math" panose="02040503050406030204" pitchFamily="18" charset="0"/>
                            </a:rPr>
                            <m:t>2</m:t>
                          </m:r>
                        </m:sub>
                      </m:sSub>
                      <m:d>
                        <m:dPr>
                          <m:ctrlPr>
                            <a:rPr lang="es-ES" b="0" i="1" smtClean="0">
                              <a:latin typeface="Cambria Math" panose="02040503050406030204" pitchFamily="18" charset="0"/>
                            </a:rPr>
                          </m:ctrlPr>
                        </m:dPr>
                        <m:e>
                          <m:r>
                            <a:rPr lang="es-ES" b="0" i="1" smtClean="0">
                              <a:latin typeface="Cambria Math" panose="02040503050406030204" pitchFamily="18" charset="0"/>
                            </a:rPr>
                            <m:t>𝜆</m:t>
                          </m:r>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𝜆</m:t>
                              </m:r>
                            </m:e>
                            <m:sub>
                              <m:r>
                                <a:rPr lang="es-ES" b="0" i="1" smtClean="0">
                                  <a:latin typeface="Cambria Math" panose="02040503050406030204" pitchFamily="18" charset="0"/>
                                </a:rPr>
                                <m:t>0</m:t>
                              </m:r>
                            </m:sub>
                          </m:sSub>
                        </m:e>
                      </m:d>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𝑛</m:t>
                          </m:r>
                        </m:e>
                        <m:sub>
                          <m:r>
                            <a:rPr lang="es-ES" b="0" i="1" smtClean="0">
                              <a:latin typeface="Cambria Math" panose="02040503050406030204" pitchFamily="18" charset="0"/>
                            </a:rPr>
                            <m:t>3</m:t>
                          </m:r>
                        </m:sub>
                      </m:sSub>
                      <m:sSup>
                        <m:sSupPr>
                          <m:ctrlPr>
                            <a:rPr lang="es-ES" b="0" i="1" smtClean="0">
                              <a:latin typeface="Cambria Math" panose="02040503050406030204" pitchFamily="18" charset="0"/>
                            </a:rPr>
                          </m:ctrlPr>
                        </m:sSupPr>
                        <m:e>
                          <m:d>
                            <m:dPr>
                              <m:ctrlPr>
                                <a:rPr lang="es-ES" b="0" i="1" smtClean="0">
                                  <a:latin typeface="Cambria Math" panose="02040503050406030204" pitchFamily="18" charset="0"/>
                                </a:rPr>
                              </m:ctrlPr>
                            </m:dPr>
                            <m:e>
                              <m:r>
                                <a:rPr lang="es-ES" b="0" i="1" smtClean="0">
                                  <a:latin typeface="Cambria Math" panose="02040503050406030204" pitchFamily="18" charset="0"/>
                                </a:rPr>
                                <m:t>𝜆</m:t>
                              </m:r>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𝜆</m:t>
                                  </m:r>
                                </m:e>
                                <m:sub>
                                  <m:r>
                                    <a:rPr lang="es-ES" b="0" i="1" smtClean="0">
                                      <a:latin typeface="Cambria Math" panose="02040503050406030204" pitchFamily="18" charset="0"/>
                                    </a:rPr>
                                    <m:t>0</m:t>
                                  </m:r>
                                </m:sub>
                              </m:sSub>
                            </m:e>
                          </m:d>
                        </m:e>
                        <m:sup>
                          <m:r>
                            <a:rPr lang="es-ES" b="0" i="1" smtClean="0">
                              <a:latin typeface="Cambria Math" panose="02040503050406030204" pitchFamily="18" charset="0"/>
                            </a:rPr>
                            <m:t>2</m:t>
                          </m:r>
                        </m:sup>
                      </m:sSup>
                    </m:oMath>
                  </m:oMathPara>
                </a14:m>
                <a:br>
                  <a:rPr lang="en-US" b="0" dirty="0"/>
                </a:br>
                <a:endParaRPr lang="en-US" sz="2500" b="0" dirty="0">
                  <a:latin typeface="+mj-lt"/>
                  <a:cs typeface="Lucida Sans"/>
                </a:endParaRPr>
              </a:p>
            </p:txBody>
          </p:sp>
        </mc:Choice>
        <mc:Fallback xmlns="">
          <p:sp>
            <p:nvSpPr>
              <p:cNvPr id="16" name="object 16">
                <a:extLst>
                  <a:ext uri="{FF2B5EF4-FFF2-40B4-BE49-F238E27FC236}">
                    <a16:creationId xmlns:a16="http://schemas.microsoft.com/office/drawing/2014/main" id="{394400B4-EE16-8E85-AB54-E82FE3B29345}"/>
                  </a:ext>
                </a:extLst>
              </p:cNvPr>
              <p:cNvSpPr txBox="1">
                <a:spLocks noGrp="1" noRot="1" noChangeAspect="1" noMove="1" noResize="1" noEditPoints="1" noAdjustHandles="1" noChangeArrowheads="1" noChangeShapeType="1" noTextEdit="1"/>
              </p:cNvSpPr>
              <p:nvPr>
                <p:ph type="title"/>
              </p:nvPr>
            </p:nvSpPr>
            <p:spPr>
              <a:xfrm>
                <a:off x="685800" y="408883"/>
                <a:ext cx="10994410" cy="1071255"/>
              </a:xfrm>
              <a:prstGeom prst="rect">
                <a:avLst/>
              </a:prstGeom>
              <a:blipFill>
                <a:blip r:embed="rId3"/>
                <a:stretch>
                  <a:fillRect l="-1664" t="-7386" b="-4545"/>
                </a:stretch>
              </a:blipFill>
            </p:spPr>
            <p:txBody>
              <a:bodyPr/>
              <a:lstStyle/>
              <a:p>
                <a:r>
                  <a:rPr lang="es-ES">
                    <a:noFill/>
                  </a:rPr>
                  <a:t> </a:t>
                </a:r>
              </a:p>
            </p:txBody>
          </p:sp>
        </mc:Fallback>
      </mc:AlternateContent>
      <p:pic>
        <p:nvPicPr>
          <p:cNvPr id="83" name="Gráfico 82">
            <a:extLst>
              <a:ext uri="{FF2B5EF4-FFF2-40B4-BE49-F238E27FC236}">
                <a16:creationId xmlns:a16="http://schemas.microsoft.com/office/drawing/2014/main" id="{4D53B68D-17ED-7EFB-F2B4-10DA7A772E1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9AB8697-C1EE-6E9A-6550-ACA2C3AE6630}"/>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970D4A6C-5B37-EDF5-6242-74B16127E96B}"/>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A440F587-93A3-E474-C0B0-883BB9DAFD85}"/>
                  </a:ext>
                </a:extLst>
              </p:cNvPr>
              <p:cNvSpPr txBox="1"/>
              <p:nvPr/>
            </p:nvSpPr>
            <p:spPr>
              <a:xfrm>
                <a:off x="609441" y="4860334"/>
                <a:ext cx="11198542" cy="1361911"/>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Find the second-degree polynomial coefficients and relate them with the group index and the dispersion parameter. </a:t>
                </a:r>
                <a14:m>
                  <m:oMath xmlns:m="http://schemas.openxmlformats.org/officeDocument/2006/math">
                    <m:d>
                      <m:dPr>
                        <m:begChr m:val="{"/>
                        <m:endChr m:val=""/>
                        <m:ctrlPr>
                          <a:rPr lang="es-ES" sz="1200" b="0" i="1" smtClean="0">
                            <a:latin typeface="Cambria Math" panose="02040503050406030204" pitchFamily="18" charset="0"/>
                            <a:cs typeface="Arial" panose="020B0604020202020204" pitchFamily="34" charset="0"/>
                          </a:rPr>
                        </m:ctrlPr>
                      </m:dPr>
                      <m:e>
                        <m:eqArr>
                          <m:eqArrPr>
                            <m:ctrlPr>
                              <a:rPr lang="es-ES" sz="1200" b="0" i="1" smtClean="0">
                                <a:latin typeface="Cambria Math" panose="02040503050406030204" pitchFamily="18" charset="0"/>
                                <a:cs typeface="Arial" panose="020B0604020202020204" pitchFamily="34" charset="0"/>
                              </a:rPr>
                            </m:ctrlPr>
                          </m:eqArrPr>
                          <m:e>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𝑛</m:t>
                                </m:r>
                              </m:e>
                              <m:sub>
                                <m:r>
                                  <a:rPr lang="es-ES" sz="1200" b="0" i="1" smtClean="0">
                                    <a:latin typeface="Cambria Math" panose="02040503050406030204" pitchFamily="18" charset="0"/>
                                    <a:cs typeface="Arial" panose="020B0604020202020204" pitchFamily="34" charset="0"/>
                                  </a:rPr>
                                  <m:t>𝑒𝑓𝑓</m:t>
                                </m:r>
                              </m:sub>
                            </m:sSub>
                            <m:r>
                              <a:rPr lang="es-ES" sz="1200" b="0" i="1" smtClean="0">
                                <a:latin typeface="Cambria Math" panose="02040503050406030204" pitchFamily="18" charset="0"/>
                                <a:cs typeface="Arial" panose="020B0604020202020204" pitchFamily="34" charset="0"/>
                              </a:rPr>
                              <m:t>=</m:t>
                            </m:r>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𝑛</m:t>
                                </m:r>
                              </m:e>
                              <m:sub>
                                <m:r>
                                  <a:rPr lang="es-ES" sz="1200" b="0" i="1" smtClean="0">
                                    <a:latin typeface="Cambria Math" panose="02040503050406030204" pitchFamily="18" charset="0"/>
                                    <a:cs typeface="Arial" panose="020B0604020202020204" pitchFamily="34" charset="0"/>
                                  </a:rPr>
                                  <m:t>1</m:t>
                                </m:r>
                              </m:sub>
                            </m:sSub>
                          </m:e>
                          <m:e>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𝑛</m:t>
                                </m:r>
                              </m:e>
                              <m:sub>
                                <m:r>
                                  <a:rPr lang="es-ES" sz="1200" b="0" i="1" smtClean="0">
                                    <a:latin typeface="Cambria Math" panose="02040503050406030204" pitchFamily="18" charset="0"/>
                                    <a:cs typeface="Arial" panose="020B0604020202020204" pitchFamily="34" charset="0"/>
                                  </a:rPr>
                                  <m:t>𝑔</m:t>
                                </m:r>
                              </m:sub>
                            </m:sSub>
                            <m:r>
                              <a:rPr lang="es-ES" sz="1200" b="0" i="1" smtClean="0">
                                <a:latin typeface="Cambria Math" panose="02040503050406030204" pitchFamily="18" charset="0"/>
                                <a:cs typeface="Arial" panose="020B0604020202020204" pitchFamily="34" charset="0"/>
                              </a:rPr>
                              <m:t>=</m:t>
                            </m:r>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𝑛</m:t>
                                </m:r>
                              </m:e>
                              <m:sub>
                                <m:r>
                                  <a:rPr lang="es-ES" sz="1200" b="0" i="1" smtClean="0">
                                    <a:latin typeface="Cambria Math" panose="02040503050406030204" pitchFamily="18" charset="0"/>
                                    <a:cs typeface="Arial" panose="020B0604020202020204" pitchFamily="34" charset="0"/>
                                  </a:rPr>
                                  <m:t>1</m:t>
                                </m:r>
                              </m:sub>
                            </m:sSub>
                            <m:r>
                              <a:rPr lang="es-ES" sz="1200" b="0" i="1" smtClean="0">
                                <a:latin typeface="Cambria Math" panose="02040503050406030204" pitchFamily="18" charset="0"/>
                                <a:cs typeface="Arial" panose="020B0604020202020204" pitchFamily="34" charset="0"/>
                              </a:rPr>
                              <m:t>−</m:t>
                            </m:r>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𝑛</m:t>
                                </m:r>
                              </m:e>
                              <m:sub>
                                <m:r>
                                  <a:rPr lang="es-ES" sz="1200" b="0" i="1" smtClean="0">
                                    <a:latin typeface="Cambria Math" panose="02040503050406030204" pitchFamily="18" charset="0"/>
                                    <a:cs typeface="Arial" panose="020B0604020202020204" pitchFamily="34" charset="0"/>
                                  </a:rPr>
                                  <m:t>2</m:t>
                                </m:r>
                              </m:sub>
                            </m:sSub>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𝜆</m:t>
                                </m:r>
                              </m:e>
                              <m:sub>
                                <m:r>
                                  <a:rPr lang="es-ES" sz="1200" b="0" i="1" smtClean="0">
                                    <a:latin typeface="Cambria Math" panose="02040503050406030204" pitchFamily="18" charset="0"/>
                                    <a:cs typeface="Arial" panose="020B0604020202020204" pitchFamily="34" charset="0"/>
                                  </a:rPr>
                                  <m:t>0</m:t>
                                </m:r>
                              </m:sub>
                            </m:sSub>
                          </m:e>
                          <m:e>
                            <m:r>
                              <a:rPr lang="es-ES" sz="1200" b="0" i="1" smtClean="0">
                                <a:latin typeface="Cambria Math" panose="02040503050406030204" pitchFamily="18" charset="0"/>
                                <a:cs typeface="Arial" panose="020B0604020202020204" pitchFamily="34" charset="0"/>
                              </a:rPr>
                              <m:t>𝐷</m:t>
                            </m:r>
                            <m:r>
                              <a:rPr lang="es-ES" sz="1200" b="0" i="1" smtClean="0">
                                <a:latin typeface="Cambria Math" panose="02040503050406030204" pitchFamily="18" charset="0"/>
                                <a:cs typeface="Arial" panose="020B0604020202020204" pitchFamily="34" charset="0"/>
                              </a:rPr>
                              <m:t>=−</m:t>
                            </m:r>
                            <m:f>
                              <m:fPr>
                                <m:ctrlPr>
                                  <a:rPr lang="es-ES" sz="1200" b="0" i="1" smtClean="0">
                                    <a:latin typeface="Cambria Math" panose="02040503050406030204" pitchFamily="18" charset="0"/>
                                    <a:cs typeface="Arial" panose="020B0604020202020204" pitchFamily="34" charset="0"/>
                                  </a:rPr>
                                </m:ctrlPr>
                              </m:fPr>
                              <m:num>
                                <m:r>
                                  <a:rPr lang="es-ES" sz="1200" b="0" i="1" smtClean="0">
                                    <a:latin typeface="Cambria Math" panose="02040503050406030204" pitchFamily="18" charset="0"/>
                                    <a:cs typeface="Arial" panose="020B0604020202020204" pitchFamily="34" charset="0"/>
                                  </a:rPr>
                                  <m:t>2</m:t>
                                </m:r>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𝜆</m:t>
                                    </m:r>
                                  </m:e>
                                  <m:sub>
                                    <m:r>
                                      <a:rPr lang="es-ES" sz="1200" b="0" i="1" smtClean="0">
                                        <a:latin typeface="Cambria Math" panose="02040503050406030204" pitchFamily="18" charset="0"/>
                                        <a:cs typeface="Arial" panose="020B0604020202020204" pitchFamily="34" charset="0"/>
                                      </a:rPr>
                                      <m:t>0</m:t>
                                    </m:r>
                                  </m:sub>
                                </m:sSub>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𝑛</m:t>
                                    </m:r>
                                  </m:e>
                                  <m:sub>
                                    <m:r>
                                      <a:rPr lang="es-ES" sz="1200" b="0" i="1" smtClean="0">
                                        <a:latin typeface="Cambria Math" panose="02040503050406030204" pitchFamily="18" charset="0"/>
                                        <a:cs typeface="Arial" panose="020B0604020202020204" pitchFamily="34" charset="0"/>
                                      </a:rPr>
                                      <m:t>3</m:t>
                                    </m:r>
                                  </m:sub>
                                </m:sSub>
                              </m:num>
                              <m:den>
                                <m:r>
                                  <a:rPr lang="es-ES" sz="1200" b="0" i="1" smtClean="0">
                                    <a:latin typeface="Cambria Math" panose="02040503050406030204" pitchFamily="18" charset="0"/>
                                    <a:cs typeface="Arial" panose="020B0604020202020204" pitchFamily="34" charset="0"/>
                                  </a:rPr>
                                  <m:t>𝑐</m:t>
                                </m:r>
                              </m:den>
                            </m:f>
                            <m:d>
                              <m:dPr>
                                <m:begChr m:val="["/>
                                <m:endChr m:val="]"/>
                                <m:ctrlPr>
                                  <a:rPr lang="es-ES" sz="1200" b="0" i="1" smtClean="0">
                                    <a:latin typeface="Cambria Math" panose="02040503050406030204" pitchFamily="18" charset="0"/>
                                    <a:cs typeface="Arial" panose="020B0604020202020204" pitchFamily="34" charset="0"/>
                                  </a:rPr>
                                </m:ctrlPr>
                              </m:dPr>
                              <m:e>
                                <m:f>
                                  <m:fPr>
                                    <m:ctrlPr>
                                      <a:rPr lang="es-ES" sz="1200" b="0" i="1" smtClean="0">
                                        <a:latin typeface="Cambria Math" panose="02040503050406030204" pitchFamily="18" charset="0"/>
                                        <a:cs typeface="Arial" panose="020B0604020202020204" pitchFamily="34" charset="0"/>
                                      </a:rPr>
                                    </m:ctrlPr>
                                  </m:fPr>
                                  <m:num>
                                    <m:sSup>
                                      <m:sSupPr>
                                        <m:ctrlPr>
                                          <a:rPr lang="es-ES" sz="1200" b="0" i="1" smtClean="0">
                                            <a:latin typeface="Cambria Math" panose="02040503050406030204" pitchFamily="18" charset="0"/>
                                            <a:cs typeface="Arial" panose="020B0604020202020204" pitchFamily="34" charset="0"/>
                                          </a:rPr>
                                        </m:ctrlPr>
                                      </m:sSupPr>
                                      <m:e>
                                        <m:r>
                                          <a:rPr lang="es-ES" sz="1200" b="0" i="1" smtClean="0">
                                            <a:latin typeface="Cambria Math" panose="02040503050406030204" pitchFamily="18" charset="0"/>
                                            <a:cs typeface="Arial" panose="020B0604020202020204" pitchFamily="34" charset="0"/>
                                          </a:rPr>
                                          <m:t>𝑠</m:t>
                                        </m:r>
                                      </m:e>
                                      <m:sup>
                                        <m:r>
                                          <a:rPr lang="es-ES" sz="1200" b="0" i="1" smtClean="0">
                                            <a:latin typeface="Cambria Math" panose="02040503050406030204" pitchFamily="18" charset="0"/>
                                            <a:cs typeface="Arial" panose="020B0604020202020204" pitchFamily="34" charset="0"/>
                                          </a:rPr>
                                          <m:t>2</m:t>
                                        </m:r>
                                      </m:sup>
                                    </m:sSup>
                                  </m:num>
                                  <m:den>
                                    <m:r>
                                      <a:rPr lang="es-ES" sz="1200" b="0" i="1" smtClean="0">
                                        <a:latin typeface="Cambria Math" panose="02040503050406030204" pitchFamily="18" charset="0"/>
                                        <a:cs typeface="Arial" panose="020B0604020202020204" pitchFamily="34" charset="0"/>
                                      </a:rPr>
                                      <m:t>𝑚</m:t>
                                    </m:r>
                                  </m:den>
                                </m:f>
                              </m:e>
                            </m:d>
                          </m:e>
                        </m:eqArr>
                      </m:e>
                    </m:d>
                  </m:oMath>
                </a14:m>
                <a:endParaRPr lang="es-ES" sz="1200" b="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 </a:t>
                </a:r>
              </a:p>
              <a:p>
                <a:pPr algn="just"/>
                <a:r>
                  <a:rPr lang="en-US" sz="1200" dirty="0">
                    <a:latin typeface="Arial" panose="020B0604020202020204" pitchFamily="34" charset="0"/>
                    <a:cs typeface="Arial" panose="020B0604020202020204" pitchFamily="34" charset="0"/>
                  </a:rPr>
                  <a:t>Comment on the results found for the TE0 and TM0 for both deep and shallow waveguides. </a:t>
                </a:r>
              </a:p>
              <a:p>
                <a:pPr algn="just"/>
                <a:endParaRPr lang="en-US" sz="12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A440F587-93A3-E474-C0B0-883BB9DAFD85}"/>
                  </a:ext>
                </a:extLst>
              </p:cNvPr>
              <p:cNvSpPr txBox="1">
                <a:spLocks noRot="1" noChangeAspect="1" noMove="1" noResize="1" noEditPoints="1" noAdjustHandles="1" noChangeArrowheads="1" noChangeShapeType="1" noTextEdit="1"/>
              </p:cNvSpPr>
              <p:nvPr/>
            </p:nvSpPr>
            <p:spPr>
              <a:xfrm>
                <a:off x="609441" y="4860334"/>
                <a:ext cx="11198542" cy="1361911"/>
              </a:xfrm>
              <a:prstGeom prst="rect">
                <a:avLst/>
              </a:prstGeom>
              <a:blipFill>
                <a:blip r:embed="rId6"/>
                <a:stretch>
                  <a:fillRect/>
                </a:stretch>
              </a:blipFill>
              <a:ln w="28575">
                <a:solidFill>
                  <a:srgbClr val="E0700D"/>
                </a:solidFill>
              </a:ln>
            </p:spPr>
            <p:txBody>
              <a:bodyPr/>
              <a:lstStyle/>
              <a:p>
                <a:r>
                  <a:rPr lang="es-ES">
                    <a:noFill/>
                  </a:rPr>
                  <a:t> </a:t>
                </a:r>
              </a:p>
            </p:txBody>
          </p:sp>
        </mc:Fallback>
      </mc:AlternateContent>
      <p:sp>
        <p:nvSpPr>
          <p:cNvPr id="6" name="Rectángulo 5">
            <a:extLst>
              <a:ext uri="{FF2B5EF4-FFF2-40B4-BE49-F238E27FC236}">
                <a16:creationId xmlns:a16="http://schemas.microsoft.com/office/drawing/2014/main" id="{2886628E-6E58-1F7E-B6C6-432B9A228397}"/>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C59B6428-4395-242F-54D8-A9FC610F2D7A}"/>
                  </a:ext>
                </a:extLst>
              </p:cNvPr>
              <p:cNvSpPr txBox="1"/>
              <p:nvPr/>
            </p:nvSpPr>
            <p:spPr>
              <a:xfrm>
                <a:off x="609440" y="2709096"/>
                <a:ext cx="5486559" cy="1200329"/>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b="1" dirty="0"/>
                  <a:t>neff_TE0 vs </a:t>
                </a:r>
                <a14:m>
                  <m:oMath xmlns:m="http://schemas.openxmlformats.org/officeDocument/2006/math">
                    <m:r>
                      <a:rPr lang="es-ES" b="1" i="1" smtClean="0">
                        <a:latin typeface="Cambria Math" panose="02040503050406030204" pitchFamily="18" charset="0"/>
                      </a:rPr>
                      <m:t>𝝀</m:t>
                    </m:r>
                  </m:oMath>
                </a14:m>
                <a:r>
                  <a:rPr lang="en-US" b="1" dirty="0"/>
                  <a:t> </a:t>
                </a:r>
                <a:r>
                  <a:rPr lang="en-US" dirty="0"/>
                  <a:t>with the second-degree polynomial fit  </a:t>
                </a:r>
              </a:p>
              <a:p>
                <a:pPr algn="ctr"/>
                <a:r>
                  <a:rPr lang="en-US" dirty="0"/>
                  <a:t>&amp; </a:t>
                </a:r>
                <a:r>
                  <a:rPr lang="en-US" b="1" dirty="0"/>
                  <a:t>neff_TM0 vs </a:t>
                </a:r>
                <a14:m>
                  <m:oMath xmlns:m="http://schemas.openxmlformats.org/officeDocument/2006/math">
                    <m:r>
                      <a:rPr lang="es-ES" b="1" i="1">
                        <a:latin typeface="Cambria Math" panose="02040503050406030204" pitchFamily="18" charset="0"/>
                      </a:rPr>
                      <m:t>𝝀</m:t>
                    </m:r>
                  </m:oMath>
                </a14:m>
                <a:r>
                  <a:rPr lang="en-US" b="1" dirty="0"/>
                  <a:t> </a:t>
                </a:r>
                <a:r>
                  <a:rPr lang="en-US" dirty="0"/>
                  <a:t>with the second-degree polynomial fit </a:t>
                </a:r>
              </a:p>
            </p:txBody>
          </p:sp>
        </mc:Choice>
        <mc:Fallback xmlns="">
          <p:sp>
            <p:nvSpPr>
              <p:cNvPr id="9" name="CuadroTexto 8">
                <a:extLst>
                  <a:ext uri="{FF2B5EF4-FFF2-40B4-BE49-F238E27FC236}">
                    <a16:creationId xmlns:a16="http://schemas.microsoft.com/office/drawing/2014/main" id="{C59B6428-4395-242F-54D8-A9FC610F2D7A}"/>
                  </a:ext>
                </a:extLst>
              </p:cNvPr>
              <p:cNvSpPr txBox="1">
                <a:spLocks noRot="1" noChangeAspect="1" noMove="1" noResize="1" noEditPoints="1" noAdjustHandles="1" noChangeArrowheads="1" noChangeShapeType="1" noTextEdit="1"/>
              </p:cNvSpPr>
              <p:nvPr/>
            </p:nvSpPr>
            <p:spPr>
              <a:xfrm>
                <a:off x="609440" y="2709096"/>
                <a:ext cx="5486559" cy="1200329"/>
              </a:xfrm>
              <a:prstGeom prst="rect">
                <a:avLst/>
              </a:prstGeom>
              <a:blipFill>
                <a:blip r:embed="rId7"/>
                <a:stretch>
                  <a:fillRect t="-2538" r="-556" b="-7107"/>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9320AF78-1FC6-19F4-8E0B-8A414F20C6DE}"/>
                  </a:ext>
                </a:extLst>
              </p:cNvPr>
              <p:cNvSpPr txBox="1"/>
              <p:nvPr/>
            </p:nvSpPr>
            <p:spPr>
              <a:xfrm>
                <a:off x="6321421" y="2709096"/>
                <a:ext cx="5486559" cy="1200329"/>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b="1" dirty="0"/>
                  <a:t>neff_TE0 vs </a:t>
                </a:r>
                <a14:m>
                  <m:oMath xmlns:m="http://schemas.openxmlformats.org/officeDocument/2006/math">
                    <m:r>
                      <a:rPr lang="es-ES" b="1" i="1">
                        <a:latin typeface="Cambria Math" panose="02040503050406030204" pitchFamily="18" charset="0"/>
                      </a:rPr>
                      <m:t>𝝀</m:t>
                    </m:r>
                  </m:oMath>
                </a14:m>
                <a:r>
                  <a:rPr lang="en-US" b="1" dirty="0"/>
                  <a:t> </a:t>
                </a:r>
                <a:r>
                  <a:rPr lang="en-US" dirty="0"/>
                  <a:t>with the second-degree polynomial fit  </a:t>
                </a:r>
              </a:p>
              <a:p>
                <a:pPr algn="ctr"/>
                <a:r>
                  <a:rPr lang="en-US" dirty="0"/>
                  <a:t>&amp; </a:t>
                </a:r>
                <a:r>
                  <a:rPr lang="en-US" b="1" dirty="0"/>
                  <a:t>neff_TM0 vs </a:t>
                </a:r>
                <a14:m>
                  <m:oMath xmlns:m="http://schemas.openxmlformats.org/officeDocument/2006/math">
                    <m:r>
                      <a:rPr lang="es-ES" b="1" i="1">
                        <a:latin typeface="Cambria Math" panose="02040503050406030204" pitchFamily="18" charset="0"/>
                      </a:rPr>
                      <m:t>𝝀</m:t>
                    </m:r>
                  </m:oMath>
                </a14:m>
                <a:r>
                  <a:rPr lang="en-US" b="1" dirty="0"/>
                  <a:t> </a:t>
                </a:r>
                <a:r>
                  <a:rPr lang="en-US" dirty="0"/>
                  <a:t>with the second-degree polynomial fit </a:t>
                </a:r>
              </a:p>
            </p:txBody>
          </p:sp>
        </mc:Choice>
        <mc:Fallback xmlns="">
          <p:sp>
            <p:nvSpPr>
              <p:cNvPr id="10" name="CuadroTexto 9">
                <a:extLst>
                  <a:ext uri="{FF2B5EF4-FFF2-40B4-BE49-F238E27FC236}">
                    <a16:creationId xmlns:a16="http://schemas.microsoft.com/office/drawing/2014/main" id="{9320AF78-1FC6-19F4-8E0B-8A414F20C6DE}"/>
                  </a:ext>
                </a:extLst>
              </p:cNvPr>
              <p:cNvSpPr txBox="1">
                <a:spLocks noRot="1" noChangeAspect="1" noMove="1" noResize="1" noEditPoints="1" noAdjustHandles="1" noChangeArrowheads="1" noChangeShapeType="1" noTextEdit="1"/>
              </p:cNvSpPr>
              <p:nvPr/>
            </p:nvSpPr>
            <p:spPr>
              <a:xfrm>
                <a:off x="6321421" y="2709096"/>
                <a:ext cx="5486559" cy="1200329"/>
              </a:xfrm>
              <a:prstGeom prst="rect">
                <a:avLst/>
              </a:prstGeom>
              <a:blipFill>
                <a:blip r:embed="rId8"/>
                <a:stretch>
                  <a:fillRect t="-2538" r="-556" b="-7107"/>
                </a:stretch>
              </a:blipFill>
            </p:spPr>
            <p:txBody>
              <a:bodyPr/>
              <a:lstStyle/>
              <a:p>
                <a:r>
                  <a:rPr lang="es-ES">
                    <a:noFill/>
                  </a:rPr>
                  <a:t> </a:t>
                </a:r>
              </a:p>
            </p:txBody>
          </p:sp>
        </mc:Fallback>
      </mc:AlternateContent>
      <p:sp>
        <p:nvSpPr>
          <p:cNvPr id="8" name="CuadroTexto 7">
            <a:extLst>
              <a:ext uri="{FF2B5EF4-FFF2-40B4-BE49-F238E27FC236}">
                <a16:creationId xmlns:a16="http://schemas.microsoft.com/office/drawing/2014/main" id="{0F38E924-A0E7-A039-C837-916BA77FE89B}"/>
              </a:ext>
            </a:extLst>
          </p:cNvPr>
          <p:cNvSpPr txBox="1"/>
          <p:nvPr/>
        </p:nvSpPr>
        <p:spPr>
          <a:xfrm>
            <a:off x="6347361" y="4498712"/>
            <a:ext cx="5486560" cy="276999"/>
          </a:xfrm>
          <a:prstGeom prst="rect">
            <a:avLst/>
          </a:prstGeom>
          <a:noFill/>
        </p:spPr>
        <p:txBody>
          <a:bodyPr wrap="square">
            <a:spAutoFit/>
          </a:bodyPr>
          <a:lstStyle/>
          <a:p>
            <a:pPr algn="r"/>
            <a:r>
              <a:rPr lang="en-US" sz="1200" b="1" dirty="0">
                <a:solidFill>
                  <a:schemeClr val="tx1"/>
                </a:solidFill>
                <a:latin typeface="Arial" panose="020B0604020202020204" pitchFamily="34" charset="0"/>
                <a:cs typeface="Arial" panose="020B0604020202020204" pitchFamily="34" charset="0"/>
              </a:rPr>
              <a:t>slab: 150nm</a:t>
            </a:r>
            <a:endParaRPr lang="en-US" sz="1200" dirty="0">
              <a:solidFill>
                <a:schemeClr val="tx1"/>
              </a:solidFill>
              <a:latin typeface="Arial" panose="020B0604020202020204" pitchFamily="34" charset="0"/>
              <a:cs typeface="Arial" panose="020B0604020202020204" pitchFamily="34" charset="0"/>
            </a:endParaRPr>
          </a:p>
        </p:txBody>
      </p:sp>
      <p:pic>
        <p:nvPicPr>
          <p:cNvPr id="7" name="Imagen 6" descr="Gráfico, Gráfico de líneas&#10;&#10;El contenido generado por IA puede ser incorrecto.">
            <a:extLst>
              <a:ext uri="{FF2B5EF4-FFF2-40B4-BE49-F238E27FC236}">
                <a16:creationId xmlns:a16="http://schemas.microsoft.com/office/drawing/2014/main" id="{FA151698-727C-8583-9AE5-D6B9E8F5C752}"/>
              </a:ext>
            </a:extLst>
          </p:cNvPr>
          <p:cNvPicPr>
            <a:picLocks noChangeAspect="1"/>
          </p:cNvPicPr>
          <p:nvPr/>
        </p:nvPicPr>
        <p:blipFill>
          <a:blip r:embed="rId9"/>
          <a:stretch>
            <a:fillRect/>
          </a:stretch>
        </p:blipFill>
        <p:spPr>
          <a:xfrm>
            <a:off x="5837811" y="1395198"/>
            <a:ext cx="6205538" cy="3411231"/>
          </a:xfrm>
          <a:prstGeom prst="rect">
            <a:avLst/>
          </a:prstGeom>
        </p:spPr>
      </p:pic>
      <p:pic>
        <p:nvPicPr>
          <p:cNvPr id="12" name="Imagen 11" descr="Gráfico, Gráfico de líneas&#10;&#10;El contenido generado por IA puede ser incorrecto.">
            <a:extLst>
              <a:ext uri="{FF2B5EF4-FFF2-40B4-BE49-F238E27FC236}">
                <a16:creationId xmlns:a16="http://schemas.microsoft.com/office/drawing/2014/main" id="{F1EC07EE-FA51-FF37-4903-6D50F621B2F4}"/>
              </a:ext>
            </a:extLst>
          </p:cNvPr>
          <p:cNvPicPr>
            <a:picLocks noChangeAspect="1"/>
          </p:cNvPicPr>
          <p:nvPr/>
        </p:nvPicPr>
        <p:blipFill>
          <a:blip r:embed="rId10"/>
          <a:stretch>
            <a:fillRect/>
          </a:stretch>
        </p:blipFill>
        <p:spPr>
          <a:xfrm>
            <a:off x="132412" y="1422795"/>
            <a:ext cx="5764881" cy="3168999"/>
          </a:xfrm>
          <a:prstGeom prst="rect">
            <a:avLst/>
          </a:prstGeom>
        </p:spPr>
      </p:pic>
    </p:spTree>
    <p:extLst>
      <p:ext uri="{BB962C8B-B14F-4D97-AF65-F5344CB8AC3E}">
        <p14:creationId xmlns:p14="http://schemas.microsoft.com/office/powerpoint/2010/main" val="2360544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C8A0C-A23A-025D-42B1-09ED97DBD942}"/>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EE48914-29CC-A065-D265-6EF6AAFD07EB}"/>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Waveguide compact model</a:t>
            </a:r>
            <a:br>
              <a:rPr lang="en-US" sz="2500" spc="-5" dirty="0">
                <a:latin typeface="+mj-lt"/>
                <a:cs typeface="Lucida Sans"/>
              </a:rPr>
            </a:br>
            <a:br>
              <a:rPr lang="en-US" b="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D73C871B-6289-B68B-C5EF-D650B8D7E60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C7D7B41-FFAD-C47D-4A8B-C8F4F1FAB22D}"/>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3" name="Marcador de pie de página 2">
            <a:extLst>
              <a:ext uri="{FF2B5EF4-FFF2-40B4-BE49-F238E27FC236}">
                <a16:creationId xmlns:a16="http://schemas.microsoft.com/office/drawing/2014/main" id="{3955EAD9-FB9D-2409-B16E-8E60363DA636}"/>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pic>
        <p:nvPicPr>
          <p:cNvPr id="2052" name="Picture 4">
            <a:extLst>
              <a:ext uri="{FF2B5EF4-FFF2-40B4-BE49-F238E27FC236}">
                <a16:creationId xmlns:a16="http://schemas.microsoft.com/office/drawing/2014/main" id="{6E9BAAA4-D439-9DBD-A325-1B56E39A4D7A}"/>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52400" y="2927663"/>
            <a:ext cx="11887200" cy="2453282"/>
          </a:xfrm>
          <a:prstGeom prst="rect">
            <a:avLst/>
          </a:prstGeom>
          <a:noFill/>
          <a:extLst>
            <a:ext uri="{909E8E84-426E-40DD-AFC4-6F175D3DCCD1}">
              <a14:hiddenFill xmlns:a14="http://schemas.microsoft.com/office/drawing/2010/main">
                <a:solidFill>
                  <a:srgbClr val="FFFFFF"/>
                </a:solidFill>
              </a14:hiddenFill>
            </a:ext>
          </a:extLst>
        </p:spPr>
      </p:pic>
      <p:sp>
        <p:nvSpPr>
          <p:cNvPr id="15" name="CuadroTexto 14">
            <a:extLst>
              <a:ext uri="{FF2B5EF4-FFF2-40B4-BE49-F238E27FC236}">
                <a16:creationId xmlns:a16="http://schemas.microsoft.com/office/drawing/2014/main" id="{A0322851-FE87-B90A-224F-363C95F61BF8}"/>
              </a:ext>
            </a:extLst>
          </p:cNvPr>
          <p:cNvSpPr txBox="1"/>
          <p:nvPr/>
        </p:nvSpPr>
        <p:spPr>
          <a:xfrm>
            <a:off x="304800" y="1475806"/>
            <a:ext cx="11582400" cy="1754326"/>
          </a:xfrm>
          <a:prstGeom prst="rect">
            <a:avLst/>
          </a:prstGeom>
          <a:noFill/>
        </p:spPr>
        <p:txBody>
          <a:bodyPr wrap="square" rtlCol="0">
            <a:spAutoFit/>
          </a:bodyPr>
          <a:lstStyle/>
          <a:p>
            <a:r>
              <a:rPr lang="es-ES" dirty="0"/>
              <a:t>As </a:t>
            </a:r>
            <a:r>
              <a:rPr lang="es-ES" dirty="0" err="1"/>
              <a:t>it</a:t>
            </a:r>
            <a:r>
              <a:rPr lang="es-ES" dirty="0"/>
              <a:t> can be </a:t>
            </a:r>
            <a:r>
              <a:rPr lang="es-ES" dirty="0" err="1"/>
              <a:t>seen</a:t>
            </a:r>
            <a:r>
              <a:rPr lang="es-ES" dirty="0"/>
              <a:t> in </a:t>
            </a:r>
            <a:r>
              <a:rPr lang="es-ES" dirty="0" err="1"/>
              <a:t>the</a:t>
            </a:r>
            <a:r>
              <a:rPr lang="es-ES" dirty="0"/>
              <a:t> table </a:t>
            </a:r>
            <a:r>
              <a:rPr lang="es-ES" dirty="0" err="1"/>
              <a:t>below</a:t>
            </a:r>
            <a:r>
              <a:rPr lang="es-ES" dirty="0"/>
              <a:t>, </a:t>
            </a:r>
            <a:r>
              <a:rPr lang="es-ES" dirty="0" err="1"/>
              <a:t>the</a:t>
            </a:r>
            <a:r>
              <a:rPr lang="es-ES" dirty="0"/>
              <a:t> </a:t>
            </a:r>
            <a:r>
              <a:rPr lang="es-ES" dirty="0" err="1"/>
              <a:t>shallow</a:t>
            </a:r>
            <a:r>
              <a:rPr lang="es-ES" dirty="0"/>
              <a:t> </a:t>
            </a:r>
            <a:r>
              <a:rPr lang="es-ES" dirty="0" err="1"/>
              <a:t>waveguide</a:t>
            </a:r>
            <a:r>
              <a:rPr lang="es-ES" dirty="0"/>
              <a:t> </a:t>
            </a:r>
            <a:r>
              <a:rPr lang="es-ES" dirty="0" err="1"/>
              <a:t>yields</a:t>
            </a:r>
            <a:r>
              <a:rPr lang="es-ES" dirty="0"/>
              <a:t> </a:t>
            </a:r>
            <a:r>
              <a:rPr lang="es-ES" dirty="0" err="1"/>
              <a:t>higher</a:t>
            </a:r>
            <a:r>
              <a:rPr lang="es-ES" dirty="0"/>
              <a:t> </a:t>
            </a:r>
            <a:r>
              <a:rPr lang="es-ES" dirty="0" err="1"/>
              <a:t>effective</a:t>
            </a:r>
            <a:r>
              <a:rPr lang="es-ES" dirty="0"/>
              <a:t> índices for </a:t>
            </a:r>
            <a:r>
              <a:rPr lang="es-ES" dirty="0" err="1"/>
              <a:t>both</a:t>
            </a:r>
            <a:r>
              <a:rPr lang="es-ES" dirty="0"/>
              <a:t> TE0 and TM0 </a:t>
            </a:r>
            <a:r>
              <a:rPr lang="es-ES" dirty="0" err="1"/>
              <a:t>due</a:t>
            </a:r>
            <a:r>
              <a:rPr lang="es-ES" dirty="0"/>
              <a:t> </a:t>
            </a:r>
            <a:r>
              <a:rPr lang="es-ES" dirty="0" err="1"/>
              <a:t>to</a:t>
            </a:r>
            <a:r>
              <a:rPr lang="es-ES" dirty="0"/>
              <a:t> </a:t>
            </a:r>
            <a:r>
              <a:rPr lang="es-ES" dirty="0" err="1"/>
              <a:t>the</a:t>
            </a:r>
            <a:r>
              <a:rPr lang="es-ES" dirty="0"/>
              <a:t> </a:t>
            </a:r>
            <a:r>
              <a:rPr lang="es-ES" dirty="0" err="1"/>
              <a:t>presence</a:t>
            </a:r>
            <a:r>
              <a:rPr lang="es-ES" dirty="0"/>
              <a:t> </a:t>
            </a:r>
            <a:r>
              <a:rPr lang="es-ES" dirty="0" err="1"/>
              <a:t>of</a:t>
            </a:r>
            <a:r>
              <a:rPr lang="es-ES" dirty="0"/>
              <a:t> </a:t>
            </a:r>
            <a:r>
              <a:rPr lang="es-ES" dirty="0" err="1"/>
              <a:t>the</a:t>
            </a:r>
            <a:r>
              <a:rPr lang="es-ES" dirty="0"/>
              <a:t> </a:t>
            </a:r>
            <a:r>
              <a:rPr lang="es-ES" dirty="0" err="1"/>
              <a:t>slab</a:t>
            </a:r>
            <a:r>
              <a:rPr lang="es-ES" dirty="0"/>
              <a:t>. In </a:t>
            </a:r>
            <a:r>
              <a:rPr lang="es-ES" dirty="0" err="1"/>
              <a:t>contrast</a:t>
            </a:r>
            <a:r>
              <a:rPr lang="es-ES" dirty="0"/>
              <a:t>, </a:t>
            </a:r>
            <a:r>
              <a:rPr lang="es-ES" dirty="0" err="1"/>
              <a:t>the</a:t>
            </a:r>
            <a:r>
              <a:rPr lang="es-ES" dirty="0"/>
              <a:t> </a:t>
            </a:r>
            <a:r>
              <a:rPr lang="es-ES" dirty="0" err="1"/>
              <a:t>deep</a:t>
            </a:r>
            <a:r>
              <a:rPr lang="es-ES" dirty="0"/>
              <a:t> </a:t>
            </a:r>
            <a:r>
              <a:rPr lang="es-ES" dirty="0" err="1"/>
              <a:t>waveguide</a:t>
            </a:r>
            <a:r>
              <a:rPr lang="es-ES" dirty="0"/>
              <a:t> shows </a:t>
            </a:r>
            <a:r>
              <a:rPr lang="es-ES" dirty="0" err="1"/>
              <a:t>larger</a:t>
            </a:r>
            <a:r>
              <a:rPr lang="es-ES" dirty="0"/>
              <a:t> </a:t>
            </a:r>
            <a:r>
              <a:rPr lang="es-ES" dirty="0" err="1"/>
              <a:t>group</a:t>
            </a:r>
            <a:r>
              <a:rPr lang="es-ES" dirty="0"/>
              <a:t> índices </a:t>
            </a:r>
            <a:r>
              <a:rPr lang="es-ES" dirty="0" err="1"/>
              <a:t>also</a:t>
            </a:r>
            <a:r>
              <a:rPr lang="es-ES" dirty="0"/>
              <a:t> for </a:t>
            </a:r>
            <a:r>
              <a:rPr lang="es-ES" dirty="0" err="1"/>
              <a:t>both</a:t>
            </a:r>
            <a:r>
              <a:rPr lang="es-ES" dirty="0"/>
              <a:t> TE0 and TM0, which </a:t>
            </a:r>
            <a:r>
              <a:rPr lang="es-ES" dirty="0" err="1"/>
              <a:t>indicates</a:t>
            </a:r>
            <a:r>
              <a:rPr lang="es-ES" dirty="0"/>
              <a:t> </a:t>
            </a:r>
            <a:r>
              <a:rPr lang="es-ES" dirty="0" err="1"/>
              <a:t>larger</a:t>
            </a:r>
            <a:r>
              <a:rPr lang="es-ES" dirty="0"/>
              <a:t> </a:t>
            </a:r>
            <a:r>
              <a:rPr lang="es-ES" dirty="0" err="1"/>
              <a:t>confinement</a:t>
            </a:r>
            <a:r>
              <a:rPr lang="es-ES" dirty="0"/>
              <a:t> </a:t>
            </a:r>
            <a:r>
              <a:rPr lang="es-ES" dirty="0" err="1"/>
              <a:t>inside</a:t>
            </a:r>
            <a:r>
              <a:rPr lang="es-ES" dirty="0"/>
              <a:t> </a:t>
            </a:r>
            <a:r>
              <a:rPr lang="es-ES" dirty="0" err="1"/>
              <a:t>the</a:t>
            </a:r>
            <a:r>
              <a:rPr lang="es-ES" dirty="0"/>
              <a:t> </a:t>
            </a:r>
            <a:r>
              <a:rPr lang="es-ES" dirty="0" err="1"/>
              <a:t>SiN</a:t>
            </a:r>
            <a:r>
              <a:rPr lang="es-ES" dirty="0"/>
              <a:t> </a:t>
            </a:r>
            <a:r>
              <a:rPr lang="es-ES" dirty="0" err="1"/>
              <a:t>core</a:t>
            </a:r>
            <a:r>
              <a:rPr lang="es-ES" dirty="0"/>
              <a:t>. </a:t>
            </a:r>
          </a:p>
          <a:p>
            <a:endParaRPr lang="es-ES" dirty="0"/>
          </a:p>
          <a:p>
            <a:r>
              <a:rPr lang="es-ES" dirty="0" err="1"/>
              <a:t>Both</a:t>
            </a:r>
            <a:r>
              <a:rPr lang="es-ES" dirty="0"/>
              <a:t> </a:t>
            </a:r>
            <a:r>
              <a:rPr lang="es-ES" dirty="0" err="1"/>
              <a:t>structures</a:t>
            </a:r>
            <a:r>
              <a:rPr lang="es-ES" dirty="0"/>
              <a:t> show negative </a:t>
            </a:r>
            <a:r>
              <a:rPr lang="es-ES" dirty="0" err="1"/>
              <a:t>values</a:t>
            </a:r>
            <a:r>
              <a:rPr lang="es-ES" dirty="0"/>
              <a:t> </a:t>
            </a:r>
            <a:r>
              <a:rPr lang="es-ES" dirty="0" err="1"/>
              <a:t>of</a:t>
            </a:r>
            <a:r>
              <a:rPr lang="es-ES" dirty="0"/>
              <a:t> </a:t>
            </a:r>
            <a:r>
              <a:rPr lang="es-ES" dirty="0" err="1"/>
              <a:t>dispersion</a:t>
            </a:r>
            <a:r>
              <a:rPr lang="es-ES" dirty="0"/>
              <a:t> </a:t>
            </a:r>
            <a:r>
              <a:rPr lang="es-ES" dirty="0" err="1"/>
              <a:t>but</a:t>
            </a:r>
            <a:r>
              <a:rPr lang="es-ES" dirty="0"/>
              <a:t> </a:t>
            </a:r>
            <a:r>
              <a:rPr lang="es-ES" dirty="0" err="1"/>
              <a:t>the</a:t>
            </a:r>
            <a:r>
              <a:rPr lang="es-ES" dirty="0"/>
              <a:t> </a:t>
            </a:r>
            <a:r>
              <a:rPr lang="es-ES" dirty="0" err="1"/>
              <a:t>shallow</a:t>
            </a:r>
            <a:r>
              <a:rPr lang="es-ES" dirty="0"/>
              <a:t> </a:t>
            </a:r>
            <a:r>
              <a:rPr lang="es-ES" dirty="0" err="1"/>
              <a:t>waveguide</a:t>
            </a:r>
            <a:r>
              <a:rPr lang="es-ES" dirty="0"/>
              <a:t> </a:t>
            </a:r>
            <a:r>
              <a:rPr lang="es-ES" dirty="0" err="1"/>
              <a:t>displays</a:t>
            </a:r>
            <a:r>
              <a:rPr lang="es-ES" dirty="0"/>
              <a:t> more negative </a:t>
            </a:r>
            <a:r>
              <a:rPr lang="es-ES" dirty="0" err="1"/>
              <a:t>values</a:t>
            </a:r>
            <a:r>
              <a:rPr lang="es-ES" dirty="0"/>
              <a:t>. </a:t>
            </a:r>
            <a:r>
              <a:rPr lang="es-ES" dirty="0" err="1"/>
              <a:t>Specifically</a:t>
            </a:r>
            <a:r>
              <a:rPr lang="es-ES" dirty="0"/>
              <a:t>, for TM0.    </a:t>
            </a:r>
          </a:p>
        </p:txBody>
      </p:sp>
    </p:spTree>
    <p:extLst>
      <p:ext uri="{BB962C8B-B14F-4D97-AF65-F5344CB8AC3E}">
        <p14:creationId xmlns:p14="http://schemas.microsoft.com/office/powerpoint/2010/main" val="11791037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09600" y="120927"/>
            <a:ext cx="10994410" cy="1166986"/>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Bend waveguide radius vs. loss – deep</a:t>
            </a:r>
            <a:br>
              <a:rPr lang="en-US" sz="2500" dirty="0"/>
            </a:br>
            <a:br>
              <a:rPr lang="en-US" sz="250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AA1F4313-D710-7A3E-7A8F-EB77DEE3C1A7}"/>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12" name="CuadroTexto 11">
            <a:extLst>
              <a:ext uri="{FF2B5EF4-FFF2-40B4-BE49-F238E27FC236}">
                <a16:creationId xmlns:a16="http://schemas.microsoft.com/office/drawing/2014/main" id="{D584BE9C-4E02-1C5F-1A13-31EB6FE7F6CE}"/>
              </a:ext>
            </a:extLst>
          </p:cNvPr>
          <p:cNvSpPr txBox="1"/>
          <p:nvPr/>
        </p:nvSpPr>
        <p:spPr>
          <a:xfrm>
            <a:off x="7772400" y="2209800"/>
            <a:ext cx="2169129" cy="369332"/>
          </a:xfrm>
          <a:prstGeom prst="rect">
            <a:avLst/>
          </a:prstGeom>
          <a:noFill/>
        </p:spPr>
        <p:txBody>
          <a:bodyPr wrap="square" rtlCol="0">
            <a:spAutoFit/>
          </a:bodyPr>
          <a:lstStyle/>
          <a:p>
            <a:r>
              <a:rPr lang="es-ES" dirty="0" err="1"/>
              <a:t>Safe</a:t>
            </a:r>
            <a:r>
              <a:rPr lang="es-ES" dirty="0"/>
              <a:t> </a:t>
            </a:r>
            <a:r>
              <a:rPr lang="es-ES" dirty="0" err="1"/>
              <a:t>radius</a:t>
            </a:r>
            <a:r>
              <a:rPr lang="es-ES" dirty="0"/>
              <a:t>: 50</a:t>
            </a:r>
          </a:p>
        </p:txBody>
      </p:sp>
      <p:pic>
        <p:nvPicPr>
          <p:cNvPr id="9" name="Imagen 8">
            <a:extLst>
              <a:ext uri="{FF2B5EF4-FFF2-40B4-BE49-F238E27FC236}">
                <a16:creationId xmlns:a16="http://schemas.microsoft.com/office/drawing/2014/main" id="{7C5F36ED-4157-C8D0-384E-8DF8E59CD97C}"/>
              </a:ext>
            </a:extLst>
          </p:cNvPr>
          <p:cNvPicPr>
            <a:picLocks noChangeAspect="1"/>
          </p:cNvPicPr>
          <p:nvPr/>
        </p:nvPicPr>
        <p:blipFill>
          <a:blip r:embed="rId5"/>
          <a:stretch>
            <a:fillRect/>
          </a:stretch>
        </p:blipFill>
        <p:spPr>
          <a:xfrm>
            <a:off x="878626" y="599258"/>
            <a:ext cx="4166380" cy="3291151"/>
          </a:xfrm>
          <a:prstGeom prst="rect">
            <a:avLst/>
          </a:prstGeom>
        </p:spPr>
      </p:pic>
      <p:pic>
        <p:nvPicPr>
          <p:cNvPr id="14" name="Imagen 13">
            <a:extLst>
              <a:ext uri="{FF2B5EF4-FFF2-40B4-BE49-F238E27FC236}">
                <a16:creationId xmlns:a16="http://schemas.microsoft.com/office/drawing/2014/main" id="{5F318440-5FBC-93FE-71CA-D4592689E815}"/>
              </a:ext>
            </a:extLst>
          </p:cNvPr>
          <p:cNvPicPr>
            <a:picLocks noChangeAspect="1"/>
          </p:cNvPicPr>
          <p:nvPr/>
        </p:nvPicPr>
        <p:blipFill>
          <a:blip r:embed="rId6"/>
          <a:stretch>
            <a:fillRect/>
          </a:stretch>
        </p:blipFill>
        <p:spPr>
          <a:xfrm>
            <a:off x="5873743" y="556760"/>
            <a:ext cx="4166380" cy="3196801"/>
          </a:xfrm>
          <a:prstGeom prst="rect">
            <a:avLst/>
          </a:prstGeom>
        </p:spPr>
      </p:pic>
      <p:pic>
        <p:nvPicPr>
          <p:cNvPr id="17" name="Imagen 16">
            <a:extLst>
              <a:ext uri="{FF2B5EF4-FFF2-40B4-BE49-F238E27FC236}">
                <a16:creationId xmlns:a16="http://schemas.microsoft.com/office/drawing/2014/main" id="{6EE2FD55-2C96-EE36-8DD6-EBAD47C070D9}"/>
              </a:ext>
            </a:extLst>
          </p:cNvPr>
          <p:cNvPicPr>
            <a:picLocks noChangeAspect="1"/>
          </p:cNvPicPr>
          <p:nvPr/>
        </p:nvPicPr>
        <p:blipFill>
          <a:blip r:embed="rId7"/>
          <a:stretch>
            <a:fillRect/>
          </a:stretch>
        </p:blipFill>
        <p:spPr>
          <a:xfrm>
            <a:off x="3529821" y="3726405"/>
            <a:ext cx="4358708" cy="2926561"/>
          </a:xfrm>
          <a:prstGeom prst="rect">
            <a:avLst/>
          </a:prstGeom>
        </p:spPr>
      </p:pic>
    </p:spTree>
    <p:extLst>
      <p:ext uri="{BB962C8B-B14F-4D97-AF65-F5344CB8AC3E}">
        <p14:creationId xmlns:p14="http://schemas.microsoft.com/office/powerpoint/2010/main" val="36604382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0FC21F-7293-F452-90CE-F3E17670DCF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383F7ACF-319A-3963-FFF7-DD9B5F40E2E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Bend waveguide radius vs. loss – deep</a:t>
            </a:r>
            <a:endParaRPr lang="en-US" sz="2500" b="0" dirty="0">
              <a:latin typeface="+mj-lt"/>
              <a:cs typeface="Lucida Sans"/>
            </a:endParaRPr>
          </a:p>
        </p:txBody>
      </p:sp>
      <p:pic>
        <p:nvPicPr>
          <p:cNvPr id="83" name="Gráfico 82">
            <a:extLst>
              <a:ext uri="{FF2B5EF4-FFF2-40B4-BE49-F238E27FC236}">
                <a16:creationId xmlns:a16="http://schemas.microsoft.com/office/drawing/2014/main" id="{774603F4-5EF9-0FBB-6A00-E529A726A41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F388BAD-9D9D-80EC-B55F-C80E6C6B695F}"/>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3" name="Marcador de pie de página 2">
            <a:extLst>
              <a:ext uri="{FF2B5EF4-FFF2-40B4-BE49-F238E27FC236}">
                <a16:creationId xmlns:a16="http://schemas.microsoft.com/office/drawing/2014/main" id="{9D9E2A85-EB40-C5DF-B4B5-1AF964486BE4}"/>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8CA66BFA-6CC5-54C4-8A03-19DF6784B301}"/>
              </a:ext>
            </a:extLst>
          </p:cNvPr>
          <p:cNvSpPr txBox="1"/>
          <p:nvPr/>
        </p:nvSpPr>
        <p:spPr>
          <a:xfrm>
            <a:off x="480239" y="1066800"/>
            <a:ext cx="11199971" cy="4247317"/>
          </a:xfrm>
          <a:prstGeom prst="rect">
            <a:avLst/>
          </a:prstGeom>
          <a:solidFill>
            <a:schemeClr val="bg1">
              <a:lumMod val="95000"/>
            </a:schemeClr>
          </a:solidFill>
          <a:ln w="28575">
            <a:solidFill>
              <a:srgbClr val="E0700D"/>
            </a:solidFill>
          </a:ln>
        </p:spPr>
        <p:txBody>
          <a:bodyPr wrap="square" rtlCol="0">
            <a:spAutoFit/>
          </a:bodyPr>
          <a:lstStyle/>
          <a:p>
            <a:pPr algn="just"/>
            <a:r>
              <a:rPr lang="en-US" dirty="0">
                <a:latin typeface="Arial" panose="020B0604020202020204" pitchFamily="34" charset="0"/>
                <a:cs typeface="Arial" panose="020B0604020202020204" pitchFamily="34" charset="0"/>
              </a:rPr>
              <a:t>The three plots show how bend radius influences modal confinement. At small radii, the mode is pushed outward, and its shape becomes noticeably distorted; this increases leakage into the cladding and reduces confinement. This </a:t>
            </a:r>
            <a:r>
              <a:rPr lang="en-US" dirty="0" err="1">
                <a:latin typeface="Arial" panose="020B0604020202020204" pitchFamily="34" charset="0"/>
                <a:cs typeface="Arial" panose="020B0604020202020204" pitchFamily="34" charset="0"/>
              </a:rPr>
              <a:t>behaviour</a:t>
            </a:r>
            <a:r>
              <a:rPr lang="en-US" dirty="0">
                <a:latin typeface="Arial" panose="020B0604020202020204" pitchFamily="34" charset="0"/>
                <a:cs typeface="Arial" panose="020B0604020202020204" pitchFamily="34" charset="0"/>
              </a:rPr>
              <a:t> can be observed in the plots for small radii in both TE and TM, where the effective index drops significantly. However, it is easy to notice that the TM mode has a more significant drop in the effective index value. </a:t>
            </a:r>
          </a:p>
          <a:p>
            <a:pPr algn="just"/>
            <a:endParaRPr lang="en-US" dirty="0">
              <a:latin typeface="Arial" panose="020B0604020202020204" pitchFamily="34" charset="0"/>
              <a:cs typeface="Arial" panose="020B0604020202020204" pitchFamily="34" charset="0"/>
            </a:endParaRPr>
          </a:p>
          <a:p>
            <a:pPr algn="just"/>
            <a:r>
              <a:rPr lang="en-US" dirty="0">
                <a:latin typeface="Arial" panose="020B0604020202020204" pitchFamily="34" charset="0"/>
                <a:cs typeface="Arial" panose="020B0604020202020204" pitchFamily="34" charset="0"/>
              </a:rPr>
              <a:t>As the radius increases, the mode regains a stable profile. Above 50 µm, both modes settle into nearly constant effective index values, although the TE₀ mode remains much more stable across the entire range. </a:t>
            </a:r>
          </a:p>
          <a:p>
            <a:pPr algn="just"/>
            <a:endParaRPr lang="en-US" dirty="0">
              <a:latin typeface="Arial" panose="020B0604020202020204" pitchFamily="34" charset="0"/>
              <a:cs typeface="Arial" panose="020B0604020202020204" pitchFamily="34" charset="0"/>
            </a:endParaRPr>
          </a:p>
          <a:p>
            <a:pPr algn="just"/>
            <a:r>
              <a:rPr lang="en-US" dirty="0">
                <a:latin typeface="Arial" panose="020B0604020202020204" pitchFamily="34" charset="0"/>
                <a:cs typeface="Arial" panose="020B0604020202020204" pitchFamily="34" charset="0"/>
              </a:rPr>
              <a:t>The loss curve follows the same physical tendency: tight bends correspond to high mismatch losses, which decrease rapidly as the waveguide curvature relaxes. The minimum of the loss curve appears at 75 µm.  Since this radius also coincides with the region where the effective indices stop changing, we can state that the safe radius is: 75 µm. </a:t>
            </a:r>
            <a:endParaRPr lang="en-US" u="sng"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2451076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4054DCB2-B09D-1955-523E-B4BCBF085EC6}"/>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4" name="CuadroTexto 3">
            <a:extLst>
              <a:ext uri="{FF2B5EF4-FFF2-40B4-BE49-F238E27FC236}">
                <a16:creationId xmlns:a16="http://schemas.microsoft.com/office/drawing/2014/main" id="{994759C6-0934-EE4E-0BD2-944D974BD3BF}"/>
              </a:ext>
            </a:extLst>
          </p:cNvPr>
          <p:cNvSpPr txBox="1"/>
          <p:nvPr/>
        </p:nvSpPr>
        <p:spPr>
          <a:xfrm>
            <a:off x="457200" y="304800"/>
            <a:ext cx="7620000" cy="461665"/>
          </a:xfrm>
          <a:prstGeom prst="rect">
            <a:avLst/>
          </a:prstGeom>
          <a:noFill/>
        </p:spPr>
        <p:txBody>
          <a:bodyPr wrap="square">
            <a:spAutoFit/>
          </a:bodyPr>
          <a:lstStyle/>
          <a:p>
            <a:r>
              <a:rPr lang="en-US" sz="2400" b="1" dirty="0"/>
              <a:t>EXTRA (SOI) : Learning outcome #1 – Convergence tests</a:t>
            </a:r>
            <a:endParaRPr lang="es-ES" sz="2400" b="1" dirty="0"/>
          </a:p>
        </p:txBody>
      </p:sp>
      <p:pic>
        <p:nvPicPr>
          <p:cNvPr id="5" name="Imagen 4">
            <a:extLst>
              <a:ext uri="{FF2B5EF4-FFF2-40B4-BE49-F238E27FC236}">
                <a16:creationId xmlns:a16="http://schemas.microsoft.com/office/drawing/2014/main" id="{FEAB9D9C-BE91-481F-45BA-097C41FA725B}"/>
              </a:ext>
            </a:extLst>
          </p:cNvPr>
          <p:cNvPicPr>
            <a:picLocks noChangeAspect="1"/>
          </p:cNvPicPr>
          <p:nvPr/>
        </p:nvPicPr>
        <p:blipFill>
          <a:blip r:embed="rId2"/>
          <a:stretch>
            <a:fillRect/>
          </a:stretch>
        </p:blipFill>
        <p:spPr>
          <a:xfrm>
            <a:off x="457200" y="986888"/>
            <a:ext cx="5601325" cy="3079090"/>
          </a:xfrm>
          <a:prstGeom prst="rect">
            <a:avLst/>
          </a:prstGeom>
        </p:spPr>
      </p:pic>
      <p:pic>
        <p:nvPicPr>
          <p:cNvPr id="6" name="Imagen 5">
            <a:extLst>
              <a:ext uri="{FF2B5EF4-FFF2-40B4-BE49-F238E27FC236}">
                <a16:creationId xmlns:a16="http://schemas.microsoft.com/office/drawing/2014/main" id="{F8360CB9-6439-A1FA-1035-FF51652D52FA}"/>
              </a:ext>
            </a:extLst>
          </p:cNvPr>
          <p:cNvPicPr>
            <a:picLocks noChangeAspect="1"/>
          </p:cNvPicPr>
          <p:nvPr/>
        </p:nvPicPr>
        <p:blipFill>
          <a:blip r:embed="rId3"/>
          <a:stretch>
            <a:fillRect/>
          </a:stretch>
        </p:blipFill>
        <p:spPr>
          <a:xfrm>
            <a:off x="6096000" y="965199"/>
            <a:ext cx="5601325" cy="3079091"/>
          </a:xfrm>
          <a:prstGeom prst="rect">
            <a:avLst/>
          </a:prstGeom>
        </p:spPr>
      </p:pic>
      <p:sp>
        <p:nvSpPr>
          <p:cNvPr id="8" name="CuadroTexto 7">
            <a:extLst>
              <a:ext uri="{FF2B5EF4-FFF2-40B4-BE49-F238E27FC236}">
                <a16:creationId xmlns:a16="http://schemas.microsoft.com/office/drawing/2014/main" id="{AA0091E7-EC30-C6A2-3411-0ED0268A78FF}"/>
              </a:ext>
            </a:extLst>
          </p:cNvPr>
          <p:cNvSpPr txBox="1"/>
          <p:nvPr/>
        </p:nvSpPr>
        <p:spPr>
          <a:xfrm>
            <a:off x="609600" y="4484826"/>
            <a:ext cx="11199971" cy="1692771"/>
          </a:xfrm>
          <a:prstGeom prst="rect">
            <a:avLst/>
          </a:prstGeom>
          <a:solidFill>
            <a:schemeClr val="bg1">
              <a:lumMod val="95000"/>
            </a:schemeClr>
          </a:solidFill>
          <a:ln w="28575">
            <a:solidFill>
              <a:srgbClr val="E0700D"/>
            </a:solidFill>
          </a:ln>
        </p:spPr>
        <p:txBody>
          <a:bodyPr wrap="square" rtlCol="0">
            <a:spAutoFit/>
          </a:bodyPr>
          <a:lstStyle/>
          <a:p>
            <a:pPr algn="just"/>
            <a:r>
              <a:rPr lang="en-US" dirty="0">
                <a:latin typeface="Arial" panose="020B0604020202020204" pitchFamily="34" charset="0"/>
                <a:cs typeface="Arial" panose="020B0604020202020204" pitchFamily="34" charset="0"/>
              </a:rPr>
              <a:t>For the SOI case, the effective index lies around 2.45–2.49 but the grid‑resolution sweep shows pronounced oscillations with no convergence; unlike </a:t>
            </a:r>
            <a:r>
              <a:rPr lang="en-US" dirty="0" err="1">
                <a:latin typeface="Arial" panose="020B0604020202020204" pitchFamily="34" charset="0"/>
                <a:cs typeface="Arial" panose="020B0604020202020204" pitchFamily="34" charset="0"/>
              </a:rPr>
              <a:t>SiN</a:t>
            </a:r>
            <a:r>
              <a:rPr lang="en-US" dirty="0">
                <a:latin typeface="Arial" panose="020B0604020202020204" pitchFamily="34" charset="0"/>
                <a:cs typeface="Arial" panose="020B0604020202020204" pitchFamily="34" charset="0"/>
              </a:rPr>
              <a:t>, where </a:t>
            </a:r>
            <a:r>
              <a:rPr lang="en-US" dirty="0" err="1">
                <a:latin typeface="Arial" panose="020B0604020202020204" pitchFamily="34" charset="0"/>
                <a:cs typeface="Arial" panose="020B0604020202020204" pitchFamily="34" charset="0"/>
              </a:rPr>
              <a:t>n_eff</a:t>
            </a:r>
            <a:r>
              <a:rPr lang="en-US" dirty="0">
                <a:latin typeface="Arial" panose="020B0604020202020204" pitchFamily="34" charset="0"/>
                <a:cs typeface="Arial" panose="020B0604020202020204" pitchFamily="34" charset="0"/>
              </a:rPr>
              <a:t> = 1.605 stabilized from grid resolution  = 50 (and 20 was an acceptable compromise). For SOI no tested grid value can be selected so a finer or adaptive mesh is required before trusting the result. The max‑grid‑scaling stabilizes around 1.3 around </a:t>
            </a:r>
            <a:r>
              <a:rPr lang="en-US" dirty="0" err="1">
                <a:latin typeface="Arial" panose="020B0604020202020204" pitchFamily="34" charset="0"/>
                <a:cs typeface="Arial" panose="020B0604020202020204" pitchFamily="34" charset="0"/>
              </a:rPr>
              <a:t>n_eff</a:t>
            </a:r>
            <a:r>
              <a:rPr lang="en-US" dirty="0">
                <a:latin typeface="Arial" panose="020B0604020202020204" pitchFamily="34" charset="0"/>
                <a:cs typeface="Arial" panose="020B0604020202020204" pitchFamily="34" charset="0"/>
              </a:rPr>
              <a:t> = 2.45. Compared with </a:t>
            </a:r>
            <a:r>
              <a:rPr lang="en-US" dirty="0" err="1">
                <a:latin typeface="Arial" panose="020B0604020202020204" pitchFamily="34" charset="0"/>
                <a:cs typeface="Arial" panose="020B0604020202020204" pitchFamily="34" charset="0"/>
              </a:rPr>
              <a:t>SiN</a:t>
            </a:r>
            <a:r>
              <a:rPr lang="en-US" dirty="0">
                <a:latin typeface="Arial" panose="020B0604020202020204" pitchFamily="34" charset="0"/>
                <a:cs typeface="Arial" panose="020B0604020202020204" pitchFamily="34" charset="0"/>
              </a:rPr>
              <a:t>, SOI yields a higher absolute </a:t>
            </a:r>
            <a:r>
              <a:rPr lang="en-US" dirty="0" err="1">
                <a:latin typeface="Arial" panose="020B0604020202020204" pitchFamily="34" charset="0"/>
                <a:cs typeface="Arial" panose="020B0604020202020204" pitchFamily="34" charset="0"/>
              </a:rPr>
              <a:t>n_eff</a:t>
            </a:r>
            <a:r>
              <a:rPr lang="en-US" dirty="0">
                <a:latin typeface="Arial" panose="020B0604020202020204" pitchFamily="34" charset="0"/>
                <a:cs typeface="Arial" panose="020B0604020202020204" pitchFamily="34" charset="0"/>
              </a:rPr>
              <a:t> and a much stronger sensitivity to grid resolution. </a:t>
            </a:r>
          </a:p>
          <a:p>
            <a:pPr algn="just"/>
            <a:endParaRPr lang="en-US" sz="1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571791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3837D1-12F7-01CA-9DA7-2842F3B4A04C}"/>
            </a:ext>
          </a:extLst>
        </p:cNvPr>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12350782-70C4-D419-8A1B-A6DDB641BE1B}"/>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4" name="CuadroTexto 3">
            <a:extLst>
              <a:ext uri="{FF2B5EF4-FFF2-40B4-BE49-F238E27FC236}">
                <a16:creationId xmlns:a16="http://schemas.microsoft.com/office/drawing/2014/main" id="{1592049D-E9CE-C1F6-BE64-EF8FA4BB059F}"/>
              </a:ext>
            </a:extLst>
          </p:cNvPr>
          <p:cNvSpPr txBox="1"/>
          <p:nvPr/>
        </p:nvSpPr>
        <p:spPr>
          <a:xfrm>
            <a:off x="599607" y="290626"/>
            <a:ext cx="7620000" cy="477054"/>
          </a:xfrm>
          <a:prstGeom prst="rect">
            <a:avLst/>
          </a:prstGeom>
          <a:noFill/>
        </p:spPr>
        <p:txBody>
          <a:bodyPr wrap="square">
            <a:spAutoFit/>
          </a:bodyPr>
          <a:lstStyle/>
          <a:p>
            <a:r>
              <a:rPr lang="en-US" sz="2400" b="1" dirty="0"/>
              <a:t>EXTRA (SOI) : Learning outcome #2 – Width dependence</a:t>
            </a:r>
            <a:endParaRPr lang="es-ES" sz="2400" b="1" dirty="0"/>
          </a:p>
        </p:txBody>
      </p:sp>
      <p:sp>
        <p:nvSpPr>
          <p:cNvPr id="8" name="CuadroTexto 7">
            <a:extLst>
              <a:ext uri="{FF2B5EF4-FFF2-40B4-BE49-F238E27FC236}">
                <a16:creationId xmlns:a16="http://schemas.microsoft.com/office/drawing/2014/main" id="{0FC2E401-A741-2669-FFB9-4D1E834F2E96}"/>
              </a:ext>
            </a:extLst>
          </p:cNvPr>
          <p:cNvSpPr txBox="1"/>
          <p:nvPr/>
        </p:nvSpPr>
        <p:spPr>
          <a:xfrm>
            <a:off x="609600" y="4484826"/>
            <a:ext cx="11199971" cy="1138773"/>
          </a:xfrm>
          <a:prstGeom prst="rect">
            <a:avLst/>
          </a:prstGeom>
          <a:solidFill>
            <a:schemeClr val="bg1">
              <a:lumMod val="95000"/>
            </a:schemeClr>
          </a:solidFill>
          <a:ln w="28575">
            <a:solidFill>
              <a:srgbClr val="E0700D"/>
            </a:solidFill>
          </a:ln>
        </p:spPr>
        <p:txBody>
          <a:bodyPr wrap="square" rtlCol="0">
            <a:spAutoFit/>
          </a:bodyPr>
          <a:lstStyle/>
          <a:p>
            <a:pPr algn="just"/>
            <a:r>
              <a:rPr lang="en-US" dirty="0">
                <a:latin typeface="Arial" panose="020B0604020202020204" pitchFamily="34" charset="0"/>
                <a:cs typeface="Arial" panose="020B0604020202020204" pitchFamily="34" charset="0"/>
              </a:rPr>
              <a:t>Compared to the </a:t>
            </a:r>
            <a:r>
              <a:rPr lang="en-US" dirty="0" err="1">
                <a:latin typeface="Arial" panose="020B0604020202020204" pitchFamily="34" charset="0"/>
                <a:cs typeface="Arial" panose="020B0604020202020204" pitchFamily="34" charset="0"/>
              </a:rPr>
              <a:t>SiN</a:t>
            </a:r>
            <a:r>
              <a:rPr lang="en-US" dirty="0">
                <a:latin typeface="Arial" panose="020B0604020202020204" pitchFamily="34" charset="0"/>
                <a:cs typeface="Arial" panose="020B0604020202020204" pitchFamily="34" charset="0"/>
              </a:rPr>
              <a:t> case, the SOI width sweeps show the same tendency: every mode increases its effective index as width grows. However, the transition from cut-off to guided for higher order modes is more abrupt. As in </a:t>
            </a:r>
            <a:r>
              <a:rPr lang="en-US" dirty="0" err="1">
                <a:latin typeface="Arial" panose="020B0604020202020204" pitchFamily="34" charset="0"/>
                <a:cs typeface="Arial" panose="020B0604020202020204" pitchFamily="34" charset="0"/>
              </a:rPr>
              <a:t>SiN</a:t>
            </a:r>
            <a:r>
              <a:rPr lang="en-US" dirty="0">
                <a:latin typeface="Arial" panose="020B0604020202020204" pitchFamily="34" charset="0"/>
                <a:cs typeface="Arial" panose="020B0604020202020204" pitchFamily="34" charset="0"/>
              </a:rPr>
              <a:t>, the fundamental TE mode remains the most sensitive to width. </a:t>
            </a:r>
          </a:p>
          <a:p>
            <a:pPr algn="just"/>
            <a:endParaRPr lang="en-US" sz="1400" dirty="0">
              <a:latin typeface="Arial" panose="020B0604020202020204" pitchFamily="34" charset="0"/>
              <a:cs typeface="Arial" panose="020B0604020202020204" pitchFamily="34" charset="0"/>
            </a:endParaRPr>
          </a:p>
        </p:txBody>
      </p:sp>
      <p:pic>
        <p:nvPicPr>
          <p:cNvPr id="3" name="Imagen 2">
            <a:extLst>
              <a:ext uri="{FF2B5EF4-FFF2-40B4-BE49-F238E27FC236}">
                <a16:creationId xmlns:a16="http://schemas.microsoft.com/office/drawing/2014/main" id="{0C45BECD-021B-6B8A-7EFB-57535E889CD2}"/>
              </a:ext>
            </a:extLst>
          </p:cNvPr>
          <p:cNvPicPr>
            <a:picLocks noChangeAspect="1"/>
          </p:cNvPicPr>
          <p:nvPr/>
        </p:nvPicPr>
        <p:blipFill>
          <a:blip r:embed="rId2"/>
          <a:stretch>
            <a:fillRect/>
          </a:stretch>
        </p:blipFill>
        <p:spPr>
          <a:xfrm>
            <a:off x="1600200" y="865866"/>
            <a:ext cx="5923498" cy="3448322"/>
          </a:xfrm>
          <a:prstGeom prst="rect">
            <a:avLst/>
          </a:prstGeom>
        </p:spPr>
      </p:pic>
      <p:pic>
        <p:nvPicPr>
          <p:cNvPr id="7" name="Imagen 6">
            <a:extLst>
              <a:ext uri="{FF2B5EF4-FFF2-40B4-BE49-F238E27FC236}">
                <a16:creationId xmlns:a16="http://schemas.microsoft.com/office/drawing/2014/main" id="{A91656BB-3B50-A357-E93E-B26E96E2856D}"/>
              </a:ext>
            </a:extLst>
          </p:cNvPr>
          <p:cNvPicPr>
            <a:picLocks noChangeAspect="1"/>
          </p:cNvPicPr>
          <p:nvPr/>
        </p:nvPicPr>
        <p:blipFill>
          <a:blip r:embed="rId3"/>
          <a:stretch>
            <a:fillRect/>
          </a:stretch>
        </p:blipFill>
        <p:spPr>
          <a:xfrm>
            <a:off x="7696200" y="1600200"/>
            <a:ext cx="3931766" cy="2288850"/>
          </a:xfrm>
          <a:prstGeom prst="rect">
            <a:avLst/>
          </a:prstGeom>
        </p:spPr>
      </p:pic>
    </p:spTree>
    <p:extLst>
      <p:ext uri="{BB962C8B-B14F-4D97-AF65-F5344CB8AC3E}">
        <p14:creationId xmlns:p14="http://schemas.microsoft.com/office/powerpoint/2010/main" val="4956166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20526EA3-AFC5-9D1D-E391-B7DA9A9D7697}"/>
              </a:ext>
            </a:extLst>
          </p:cNvPr>
          <p:cNvPicPr>
            <a:picLocks noChangeAspect="1"/>
          </p:cNvPicPr>
          <p:nvPr/>
        </p:nvPicPr>
        <p:blipFill>
          <a:blip r:embed="rId2"/>
          <a:stretch>
            <a:fillRect/>
          </a:stretch>
        </p:blipFill>
        <p:spPr>
          <a:xfrm>
            <a:off x="239844" y="626652"/>
            <a:ext cx="4126572" cy="3311447"/>
          </a:xfrm>
          <a:prstGeom prst="rect">
            <a:avLst/>
          </a:prstGeom>
        </p:spPr>
      </p:pic>
      <p:sp>
        <p:nvSpPr>
          <p:cNvPr id="2" name="Marcador de número de diapositiva 1">
            <a:extLst>
              <a:ext uri="{FF2B5EF4-FFF2-40B4-BE49-F238E27FC236}">
                <a16:creationId xmlns:a16="http://schemas.microsoft.com/office/drawing/2014/main" id="{9EBBD3C8-ECF7-96F6-561E-73501DE7A063}"/>
              </a:ext>
            </a:extLst>
          </p:cNvPr>
          <p:cNvSpPr>
            <a:spLocks noGrp="1"/>
          </p:cNvSpPr>
          <p:nvPr>
            <p:ph type="sldNum" sz="quarter" idx="7"/>
          </p:nvPr>
        </p:nvSpPr>
        <p:spPr/>
        <p:txBody>
          <a:bodyPr/>
          <a:lstStyle/>
          <a:p>
            <a:fld id="{B6F15528-21DE-4FAA-801E-634DDDAF4B2B}" type="slidenum">
              <a:rPr lang="es-ES" smtClean="0"/>
              <a:t>11</a:t>
            </a:fld>
            <a:endParaRPr lang="es-ES"/>
          </a:p>
        </p:txBody>
      </p:sp>
      <p:pic>
        <p:nvPicPr>
          <p:cNvPr id="12" name="Imagen 11">
            <a:extLst>
              <a:ext uri="{FF2B5EF4-FFF2-40B4-BE49-F238E27FC236}">
                <a16:creationId xmlns:a16="http://schemas.microsoft.com/office/drawing/2014/main" id="{D3F18E53-796A-F2C5-AEC0-E10058D449E2}"/>
              </a:ext>
            </a:extLst>
          </p:cNvPr>
          <p:cNvPicPr>
            <a:picLocks noChangeAspect="1"/>
          </p:cNvPicPr>
          <p:nvPr/>
        </p:nvPicPr>
        <p:blipFill>
          <a:blip r:embed="rId3"/>
          <a:stretch>
            <a:fillRect/>
          </a:stretch>
        </p:blipFill>
        <p:spPr>
          <a:xfrm>
            <a:off x="4453860" y="739779"/>
            <a:ext cx="4126572" cy="3118920"/>
          </a:xfrm>
          <a:prstGeom prst="rect">
            <a:avLst/>
          </a:prstGeom>
        </p:spPr>
      </p:pic>
      <p:pic>
        <p:nvPicPr>
          <p:cNvPr id="10" name="Imagen 9">
            <a:extLst>
              <a:ext uri="{FF2B5EF4-FFF2-40B4-BE49-F238E27FC236}">
                <a16:creationId xmlns:a16="http://schemas.microsoft.com/office/drawing/2014/main" id="{2CAC14DE-7679-F7EC-757C-C6F457DFA198}"/>
              </a:ext>
            </a:extLst>
          </p:cNvPr>
          <p:cNvPicPr>
            <a:picLocks noChangeAspect="1"/>
          </p:cNvPicPr>
          <p:nvPr/>
        </p:nvPicPr>
        <p:blipFill>
          <a:blip r:embed="rId4"/>
          <a:stretch>
            <a:fillRect/>
          </a:stretch>
        </p:blipFill>
        <p:spPr>
          <a:xfrm>
            <a:off x="2484667" y="3810000"/>
            <a:ext cx="4384841" cy="2910840"/>
          </a:xfrm>
          <a:prstGeom prst="rect">
            <a:avLst/>
          </a:prstGeom>
        </p:spPr>
      </p:pic>
      <p:sp>
        <p:nvSpPr>
          <p:cNvPr id="9" name="CuadroTexto 8">
            <a:extLst>
              <a:ext uri="{FF2B5EF4-FFF2-40B4-BE49-F238E27FC236}">
                <a16:creationId xmlns:a16="http://schemas.microsoft.com/office/drawing/2014/main" id="{99E5F00B-128C-564F-FBBB-B6BCA8DC6757}"/>
              </a:ext>
            </a:extLst>
          </p:cNvPr>
          <p:cNvSpPr txBox="1"/>
          <p:nvPr/>
        </p:nvSpPr>
        <p:spPr>
          <a:xfrm>
            <a:off x="152400" y="137160"/>
            <a:ext cx="11506200" cy="523220"/>
          </a:xfrm>
          <a:prstGeom prst="rect">
            <a:avLst/>
          </a:prstGeom>
          <a:noFill/>
        </p:spPr>
        <p:txBody>
          <a:bodyPr wrap="square">
            <a:spAutoFit/>
          </a:bodyPr>
          <a:lstStyle/>
          <a:p>
            <a:r>
              <a:rPr lang="en-US" sz="2800" b="1" dirty="0"/>
              <a:t>EXTRA (SOI) : Learning outcome #4 – Bend waveguide radius vs. loss – deep</a:t>
            </a:r>
            <a:endParaRPr lang="es-ES" sz="2800" b="1" dirty="0"/>
          </a:p>
        </p:txBody>
      </p:sp>
      <p:sp>
        <p:nvSpPr>
          <p:cNvPr id="11" name="CuadroTexto 10">
            <a:extLst>
              <a:ext uri="{FF2B5EF4-FFF2-40B4-BE49-F238E27FC236}">
                <a16:creationId xmlns:a16="http://schemas.microsoft.com/office/drawing/2014/main" id="{CD4DE00D-A2B0-D0CC-8005-DD96271C8CA5}"/>
              </a:ext>
            </a:extLst>
          </p:cNvPr>
          <p:cNvSpPr txBox="1"/>
          <p:nvPr/>
        </p:nvSpPr>
        <p:spPr>
          <a:xfrm>
            <a:off x="8915400" y="1219200"/>
            <a:ext cx="2804160" cy="1200329"/>
          </a:xfrm>
          <a:prstGeom prst="rect">
            <a:avLst/>
          </a:prstGeom>
          <a:noFill/>
        </p:spPr>
        <p:txBody>
          <a:bodyPr wrap="square" rtlCol="0">
            <a:spAutoFit/>
          </a:bodyPr>
          <a:lstStyle/>
          <a:p>
            <a:r>
              <a:rPr lang="es-ES" dirty="0" err="1"/>
              <a:t>Safe</a:t>
            </a:r>
            <a:r>
              <a:rPr lang="es-ES" dirty="0"/>
              <a:t> </a:t>
            </a:r>
            <a:r>
              <a:rPr lang="es-ES" dirty="0" err="1"/>
              <a:t>bend</a:t>
            </a:r>
            <a:r>
              <a:rPr lang="es-ES" dirty="0"/>
              <a:t> </a:t>
            </a:r>
            <a:r>
              <a:rPr lang="es-ES" dirty="0" err="1"/>
              <a:t>radius</a:t>
            </a:r>
            <a:r>
              <a:rPr lang="es-ES" dirty="0"/>
              <a:t> for SOI:</a:t>
            </a:r>
          </a:p>
          <a:p>
            <a:r>
              <a:rPr lang="es-ES" dirty="0">
                <a:latin typeface="Segoe UI" panose="020B0502040204020203" pitchFamily="34" charset="0"/>
              </a:rPr>
              <a:t>10 µm</a:t>
            </a:r>
          </a:p>
          <a:p>
            <a:r>
              <a:rPr lang="es-ES" dirty="0"/>
              <a:t> </a:t>
            </a:r>
          </a:p>
          <a:p>
            <a:endParaRPr lang="es-ES" dirty="0"/>
          </a:p>
        </p:txBody>
      </p:sp>
      <p:sp>
        <p:nvSpPr>
          <p:cNvPr id="15" name="CuadroTexto 14">
            <a:extLst>
              <a:ext uri="{FF2B5EF4-FFF2-40B4-BE49-F238E27FC236}">
                <a16:creationId xmlns:a16="http://schemas.microsoft.com/office/drawing/2014/main" id="{163E121A-EC9F-B1CB-F8AC-EC486C0A7FE5}"/>
              </a:ext>
            </a:extLst>
          </p:cNvPr>
          <p:cNvSpPr txBox="1"/>
          <p:nvPr/>
        </p:nvSpPr>
        <p:spPr>
          <a:xfrm>
            <a:off x="7434808" y="4135517"/>
            <a:ext cx="3766592" cy="1754326"/>
          </a:xfrm>
          <a:prstGeom prst="rect">
            <a:avLst/>
          </a:prstGeom>
          <a:noFill/>
        </p:spPr>
        <p:txBody>
          <a:bodyPr wrap="square" rtlCol="0">
            <a:spAutoFit/>
          </a:bodyPr>
          <a:lstStyle/>
          <a:p>
            <a:pPr algn="just"/>
            <a:r>
              <a:rPr lang="en-US" dirty="0">
                <a:latin typeface="Arial" panose="020B0604020202020204" pitchFamily="34" charset="0"/>
                <a:cs typeface="Arial" panose="020B0604020202020204" pitchFamily="34" charset="0"/>
              </a:rPr>
              <a:t>In SOI the loss minimum appears near 10 µm, while in </a:t>
            </a:r>
            <a:r>
              <a:rPr lang="en-US" dirty="0" err="1">
                <a:latin typeface="Arial" panose="020B0604020202020204" pitchFamily="34" charset="0"/>
                <a:cs typeface="Arial" panose="020B0604020202020204" pitchFamily="34" charset="0"/>
              </a:rPr>
              <a:t>SiN</a:t>
            </a:r>
            <a:r>
              <a:rPr lang="en-US" dirty="0">
                <a:latin typeface="Arial" panose="020B0604020202020204" pitchFamily="34" charset="0"/>
                <a:cs typeface="Arial" panose="020B0604020202020204" pitchFamily="34" charset="0"/>
              </a:rPr>
              <a:t> it only stabilizes near 75 µm, reflecting how much more compact SOI bends can be. </a:t>
            </a:r>
          </a:p>
          <a:p>
            <a:endParaRPr lang="es-ES" dirty="0"/>
          </a:p>
        </p:txBody>
      </p:sp>
    </p:spTree>
    <p:extLst>
      <p:ext uri="{BB962C8B-B14F-4D97-AF65-F5344CB8AC3E}">
        <p14:creationId xmlns:p14="http://schemas.microsoft.com/office/powerpoint/2010/main" val="2873185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12</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1168</TotalTime>
  <Words>1081</Words>
  <Application>Microsoft Office PowerPoint</Application>
  <PresentationFormat>Panorámica</PresentationFormat>
  <Paragraphs>103</Paragraphs>
  <Slides>12</Slides>
  <Notes>6</Notes>
  <HiddenSlides>0</HiddenSlides>
  <MMClips>0</MMClips>
  <ScaleCrop>false</ScaleCrop>
  <HeadingPairs>
    <vt:vector size="6" baseType="variant">
      <vt:variant>
        <vt:lpstr>Fuentes usadas</vt:lpstr>
      </vt:variant>
      <vt:variant>
        <vt:i4>8</vt:i4>
      </vt:variant>
      <vt:variant>
        <vt:lpstr>Tema</vt:lpstr>
      </vt:variant>
      <vt:variant>
        <vt:i4>1</vt:i4>
      </vt:variant>
      <vt:variant>
        <vt:lpstr>Títulos de diapositiva</vt:lpstr>
      </vt:variant>
      <vt:variant>
        <vt:i4>12</vt:i4>
      </vt:variant>
    </vt:vector>
  </HeadingPairs>
  <TitlesOfParts>
    <vt:vector size="21" baseType="lpstr">
      <vt:lpstr>Aptos</vt:lpstr>
      <vt:lpstr>Arial</vt:lpstr>
      <vt:lpstr>Calibri</vt:lpstr>
      <vt:lpstr>Cambria Math</vt:lpstr>
      <vt:lpstr>Lucida Sans</vt:lpstr>
      <vt:lpstr>Segoe UI</vt:lpstr>
      <vt:lpstr>Times New Roman</vt:lpstr>
      <vt:lpstr>Wingdings</vt:lpstr>
      <vt:lpstr>Office Theme</vt:lpstr>
      <vt:lpstr>Presentación de PowerPoint</vt:lpstr>
      <vt:lpstr>Instructions General</vt:lpstr>
      <vt:lpstr>Learning outcome #1 – Convergence tests DE waveguide, w = 1.2 µm, neff_TE0, wvl 1.55 µm. </vt:lpstr>
      <vt:lpstr>Learning outcome #2 – Width dependence Width 0.6 - 1.6 µm (step 0.1 µm) – Wavelength 1.55 µm </vt:lpstr>
      <vt:lpstr>Learning outcome #3 – Waveguide compact model Let’s model the waveguide using a second order polynomial:  n_eff (λ)=n_1+n_2 (λ-λ_0 )+n_3 (λ-λ_0 )^2 </vt:lpstr>
      <vt:lpstr>Learning outcome #3 – Waveguide compact model  </vt:lpstr>
      <vt:lpstr>Learning outcome #4 – Bend waveguide radius vs. loss – deep  </vt:lpstr>
      <vt:lpstr>Learning outcome #4 – Bend waveguide radius vs. loss – deep</vt:lpstr>
      <vt:lpstr>Presentación de PowerPoint</vt:lpstr>
      <vt:lpstr>Presentación de PowerPoint</vt:lpstr>
      <vt:lpstr>Presentación de PowerPoint</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Maria Romero Garcia</cp:lastModifiedBy>
  <cp:revision>14</cp:revision>
  <dcterms:created xsi:type="dcterms:W3CDTF">2025-01-27T02:46:57Z</dcterms:created>
  <dcterms:modified xsi:type="dcterms:W3CDTF">2026-03-06T19:48:22Z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