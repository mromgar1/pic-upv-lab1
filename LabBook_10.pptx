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95" r:id="rId3"/>
    <p:sldId id="290" r:id="rId4"/>
    <p:sldId id="292" r:id="rId5"/>
    <p:sldId id="297" r:id="rId6"/>
    <p:sldId id="293" r:id="rId7"/>
    <p:sldId id="298" r:id="rId8"/>
    <p:sldId id="299" r:id="rId9"/>
    <p:sldId id="288" r:id="rId10"/>
  </p:sldIdLst>
  <p:sldSz cx="12192000" cy="6858000"/>
  <p:notesSz cx="12192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43A380-F68D-4B97-8CF0-04FACEB71A64}" v="8" dt="2026-02-16T10:00:04.33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38" autoAdjust="0"/>
    <p:restoredTop sz="95033" autoAdjust="0"/>
  </p:normalViewPr>
  <p:slideViewPr>
    <p:cSldViewPr>
      <p:cViewPr varScale="1">
        <p:scale>
          <a:sx n="53" d="100"/>
          <a:sy n="53" d="100"/>
        </p:scale>
        <p:origin x="1152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1392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Camilo Cano Vasquez" userId="8c73a2a4-758b-4e34-81ed-39462e48bd92" providerId="ADAL" clId="{E6287060-0277-4BCC-9556-78F4A9113EC4}"/>
    <pc:docChg chg="custSel addSld delSld modSld">
      <pc:chgData name="Christian Camilo Cano Vasquez" userId="8c73a2a4-758b-4e34-81ed-39462e48bd92" providerId="ADAL" clId="{E6287060-0277-4BCC-9556-78F4A9113EC4}" dt="2026-02-16T10:00:04.333" v="112"/>
      <pc:docMkLst>
        <pc:docMk/>
      </pc:docMkLst>
      <pc:sldChg chg="addSp delSp modSp mod">
        <pc:chgData name="Christian Camilo Cano Vasquez" userId="8c73a2a4-758b-4e34-81ed-39462e48bd92" providerId="ADAL" clId="{E6287060-0277-4BCC-9556-78F4A9113EC4}" dt="2026-02-16T09:54:36.314" v="109" actId="20577"/>
        <pc:sldMkLst>
          <pc:docMk/>
          <pc:sldMk cId="730501311" sldId="290"/>
        </pc:sldMkLst>
        <pc:spChg chg="add mod">
          <ac:chgData name="Christian Camilo Cano Vasquez" userId="8c73a2a4-758b-4e34-81ed-39462e48bd92" providerId="ADAL" clId="{E6287060-0277-4BCC-9556-78F4A9113EC4}" dt="2026-02-16T09:48:48.742" v="10" actId="1076"/>
          <ac:spMkLst>
            <pc:docMk/>
            <pc:sldMk cId="730501311" sldId="290"/>
            <ac:spMk id="2" creationId="{029F2FF9-FEB4-7AA3-B3B4-EFA9CFA0E230}"/>
          </ac:spMkLst>
        </pc:spChg>
        <pc:spChg chg="add mod">
          <ac:chgData name="Christian Camilo Cano Vasquez" userId="8c73a2a4-758b-4e34-81ed-39462e48bd92" providerId="ADAL" clId="{E6287060-0277-4BCC-9556-78F4A9113EC4}" dt="2026-02-16T09:49:37.395" v="33" actId="20577"/>
          <ac:spMkLst>
            <pc:docMk/>
            <pc:sldMk cId="730501311" sldId="290"/>
            <ac:spMk id="4" creationId="{C2C94B57-6111-4070-F6BA-8C3B9C305618}"/>
          </ac:spMkLst>
        </pc:spChg>
        <pc:spChg chg="del">
          <ac:chgData name="Christian Camilo Cano Vasquez" userId="8c73a2a4-758b-4e34-81ed-39462e48bd92" providerId="ADAL" clId="{E6287060-0277-4BCC-9556-78F4A9113EC4}" dt="2026-02-16T09:48:32.837" v="5" actId="478"/>
          <ac:spMkLst>
            <pc:docMk/>
            <pc:sldMk cId="730501311" sldId="290"/>
            <ac:spMk id="7" creationId="{F917B3AA-589C-A90A-EE95-EE60C6D04663}"/>
          </ac:spMkLst>
        </pc:spChg>
        <pc:spChg chg="del">
          <ac:chgData name="Christian Camilo Cano Vasquez" userId="8c73a2a4-758b-4e34-81ed-39462e48bd92" providerId="ADAL" clId="{E6287060-0277-4BCC-9556-78F4A9113EC4}" dt="2026-02-16T09:48:32.837" v="5" actId="478"/>
          <ac:spMkLst>
            <pc:docMk/>
            <pc:sldMk cId="730501311" sldId="290"/>
            <ac:spMk id="9" creationId="{793F5757-34AB-6F24-0981-9F1F15A0ADF8}"/>
          </ac:spMkLst>
        </pc:spChg>
        <pc:spChg chg="del">
          <ac:chgData name="Christian Camilo Cano Vasquez" userId="8c73a2a4-758b-4e34-81ed-39462e48bd92" providerId="ADAL" clId="{E6287060-0277-4BCC-9556-78F4A9113EC4}" dt="2026-02-16T09:48:35.096" v="6" actId="478"/>
          <ac:spMkLst>
            <pc:docMk/>
            <pc:sldMk cId="730501311" sldId="290"/>
            <ac:spMk id="11" creationId="{8BD4C233-B5D9-B6AA-93A8-CF2F130CFF9C}"/>
          </ac:spMkLst>
        </pc:spChg>
        <pc:spChg chg="mod">
          <ac:chgData name="Christian Camilo Cano Vasquez" userId="8c73a2a4-758b-4e34-81ed-39462e48bd92" providerId="ADAL" clId="{E6287060-0277-4BCC-9556-78F4A9113EC4}" dt="2026-02-16T09:54:36.314" v="109" actId="20577"/>
          <ac:spMkLst>
            <pc:docMk/>
            <pc:sldMk cId="730501311" sldId="290"/>
            <ac:spMk id="16" creationId="{471E1424-6C4B-2D9A-1352-30AFB987AD41}"/>
          </ac:spMkLst>
        </pc:spChg>
      </pc:sldChg>
      <pc:sldChg chg="modSp add del mod">
        <pc:chgData name="Christian Camilo Cano Vasquez" userId="8c73a2a4-758b-4e34-81ed-39462e48bd92" providerId="ADAL" clId="{E6287060-0277-4BCC-9556-78F4A9113EC4}" dt="2026-02-16T09:54:44.707" v="111" actId="20577"/>
        <pc:sldMkLst>
          <pc:docMk/>
          <pc:sldMk cId="2900117438" sldId="292"/>
        </pc:sldMkLst>
        <pc:spChg chg="mod">
          <ac:chgData name="Christian Camilo Cano Vasquez" userId="8c73a2a4-758b-4e34-81ed-39462e48bd92" providerId="ADAL" clId="{E6287060-0277-4BCC-9556-78F4A9113EC4}" dt="2026-02-16T09:51:39.768" v="80" actId="313"/>
          <ac:spMkLst>
            <pc:docMk/>
            <pc:sldMk cId="2900117438" sldId="292"/>
            <ac:spMk id="2" creationId="{82A62DD6-5488-72A1-9926-0CAEE59089A9}"/>
          </ac:spMkLst>
        </pc:spChg>
        <pc:spChg chg="mod">
          <ac:chgData name="Christian Camilo Cano Vasquez" userId="8c73a2a4-758b-4e34-81ed-39462e48bd92" providerId="ADAL" clId="{E6287060-0277-4BCC-9556-78F4A9113EC4}" dt="2026-02-16T09:54:44.707" v="111" actId="20577"/>
          <ac:spMkLst>
            <pc:docMk/>
            <pc:sldMk cId="2900117438" sldId="292"/>
            <ac:spMk id="16" creationId="{6AA2E789-F7AE-F068-274C-E0F13A22DBCA}"/>
          </ac:spMkLst>
        </pc:spChg>
      </pc:sldChg>
      <pc:sldChg chg="modSp add del mod">
        <pc:chgData name="Christian Camilo Cano Vasquez" userId="8c73a2a4-758b-4e34-81ed-39462e48bd92" providerId="ADAL" clId="{E6287060-0277-4BCC-9556-78F4A9113EC4}" dt="2026-02-16T09:50:51.822" v="37" actId="20577"/>
        <pc:sldMkLst>
          <pc:docMk/>
          <pc:sldMk cId="3660438245" sldId="293"/>
        </pc:sldMkLst>
        <pc:spChg chg="mod">
          <ac:chgData name="Christian Camilo Cano Vasquez" userId="8c73a2a4-758b-4e34-81ed-39462e48bd92" providerId="ADAL" clId="{E6287060-0277-4BCC-9556-78F4A9113EC4}" dt="2026-02-16T09:45:25.127" v="4" actId="115"/>
          <ac:spMkLst>
            <pc:docMk/>
            <pc:sldMk cId="3660438245" sldId="293"/>
            <ac:spMk id="2" creationId="{FDE3A197-9508-F9F1-1FEB-FF883D78C151}"/>
          </ac:spMkLst>
        </pc:spChg>
        <pc:spChg chg="mod">
          <ac:chgData name="Christian Camilo Cano Vasquez" userId="8c73a2a4-758b-4e34-81ed-39462e48bd92" providerId="ADAL" clId="{E6287060-0277-4BCC-9556-78F4A9113EC4}" dt="2026-02-16T09:50:51.822" v="37" actId="20577"/>
          <ac:spMkLst>
            <pc:docMk/>
            <pc:sldMk cId="3660438245" sldId="293"/>
            <ac:spMk id="16" creationId="{742C31CE-19F0-B995-0997-9A2D6A879BF7}"/>
          </ac:spMkLst>
        </pc:spChg>
      </pc:sldChg>
      <pc:sldChg chg="modSp mod">
        <pc:chgData name="Christian Camilo Cano Vasquez" userId="8c73a2a4-758b-4e34-81ed-39462e48bd92" providerId="ADAL" clId="{E6287060-0277-4BCC-9556-78F4A9113EC4}" dt="2026-02-16T10:00:04.333" v="112"/>
        <pc:sldMkLst>
          <pc:docMk/>
          <pc:sldMk cId="473922805" sldId="295"/>
        </pc:sldMkLst>
        <pc:spChg chg="mod">
          <ac:chgData name="Christian Camilo Cano Vasquez" userId="8c73a2a4-758b-4e34-81ed-39462e48bd92" providerId="ADAL" clId="{E6287060-0277-4BCC-9556-78F4A9113EC4}" dt="2026-02-16T10:00:04.333" v="112"/>
          <ac:spMkLst>
            <pc:docMk/>
            <pc:sldMk cId="473922805" sldId="295"/>
            <ac:spMk id="4" creationId="{9F7BC140-B3D8-C3CB-55AD-9064C7CDE9CA}"/>
          </ac:spMkLst>
        </pc:spChg>
      </pc:sldChg>
      <pc:sldChg chg="del">
        <pc:chgData name="Christian Camilo Cano Vasquez" userId="8c73a2a4-758b-4e34-81ed-39462e48bd92" providerId="ADAL" clId="{E6287060-0277-4BCC-9556-78F4A9113EC4}" dt="2026-02-16T09:50:39.931" v="34" actId="47"/>
        <pc:sldMkLst>
          <pc:docMk/>
          <pc:sldMk cId="1245186850" sldId="296"/>
        </pc:sldMkLst>
      </pc:sldChg>
      <pc:sldChg chg="modSp add del">
        <pc:chgData name="Christian Camilo Cano Vasquez" userId="8c73a2a4-758b-4e34-81ed-39462e48bd92" providerId="ADAL" clId="{E6287060-0277-4BCC-9556-78F4A9113EC4}" dt="2026-02-16T09:50:57.288" v="39" actId="20577"/>
        <pc:sldMkLst>
          <pc:docMk/>
          <pc:sldMk cId="236054401" sldId="297"/>
        </pc:sldMkLst>
        <pc:spChg chg="mod">
          <ac:chgData name="Christian Camilo Cano Vasquez" userId="8c73a2a4-758b-4e34-81ed-39462e48bd92" providerId="ADAL" clId="{E6287060-0277-4BCC-9556-78F4A9113EC4}" dt="2026-02-16T09:50:57.288" v="39" actId="20577"/>
          <ac:spMkLst>
            <pc:docMk/>
            <pc:sldMk cId="236054401" sldId="297"/>
            <ac:spMk id="16" creationId="{394400B4-EE16-8E85-AB54-E82FE3B2934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ADD96E76-517F-B468-04D8-38EFA44947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678D0B9-782A-7C16-D731-EEB7F991FA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8F8DC-35B0-48E6-A86E-42F1F08DD00F}" type="datetimeFigureOut">
              <a:rPr lang="es-ES" smtClean="0"/>
              <a:t>05/03/2026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F2E7B1C-60E2-8A48-EEE0-6715FC30A8B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28D795-4EA2-62F0-B78A-5F215C828C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6A549-763A-4A89-A454-A94BAF51395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347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BDC12-F39B-4B97-8F4D-6734F9D366FF}" type="datetimeFigureOut">
              <a:rPr lang="es-ES" smtClean="0"/>
              <a:t>05/03/2026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223B9-C868-4436-87D9-1A3152E115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4211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2532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93BBE-3704-D894-1C10-5488EE611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9BB04E2-F70F-42F7-9964-3D274C49F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6664AEC-7D1D-9DDC-3B94-3AE8450C7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8F62EEB-2D30-2026-D252-4267AF6882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60790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9AA65-166B-474B-A6C9-9858D86A9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8158223-A8BA-05F6-464C-EC03A9FB8C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6ECB4DF-C329-8F47-9ECE-661B5B2BF9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41B2276-A4E2-DFBF-0088-6997E86C9F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23159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23B86-D15F-9CD8-C5EA-3EAAD8BAC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C73881A-26A5-ECF9-C6F2-3DEFA77AEF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B7AFC79-4973-3930-959B-AEF8810CFE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345D0F3-6273-0338-FCDA-175B73D7C9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7382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1.0. WAVEGUIDES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0550" y="206752"/>
            <a:ext cx="10991850" cy="307777"/>
          </a:xfrm>
        </p:spPr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2152910"/>
            <a:ext cx="10972800" cy="3950710"/>
          </a:xfrm>
        </p:spPr>
        <p:txBody>
          <a:bodyPr lIns="0" tIns="0" rIns="0" bIns="0"/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9600" y="6457057"/>
            <a:ext cx="2743200" cy="184666"/>
          </a:xfrm>
        </p:spPr>
        <p:txBody>
          <a:bodyPr lIns="0" tIns="0" rIns="0" bIns="0" anchor="ctr"/>
          <a:lstStyle>
            <a:lvl1pPr>
              <a:defRPr sz="12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15"/>
              </a:spcBef>
            </a:pPr>
            <a:r>
              <a:rPr lang="es-ES" spc="-5"/>
              <a:t>LAB 1.0. WAVEGUIDES</a:t>
            </a:r>
            <a:endParaRPr lang="es-ES"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1.0. WAVEGUIDES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2636520"/>
            <a:ext cx="3944620" cy="1584960"/>
          </a:xfrm>
          <a:custGeom>
            <a:avLst/>
            <a:gdLst/>
            <a:ahLst/>
            <a:cxnLst/>
            <a:rect l="l" t="t" r="r" b="b"/>
            <a:pathLst>
              <a:path w="3944620" h="1584960">
                <a:moveTo>
                  <a:pt x="0" y="1584959"/>
                </a:moveTo>
                <a:lnTo>
                  <a:pt x="3944112" y="1584959"/>
                </a:lnTo>
                <a:lnTo>
                  <a:pt x="3944112" y="0"/>
                </a:lnTo>
                <a:lnTo>
                  <a:pt x="0" y="0"/>
                </a:lnTo>
                <a:lnTo>
                  <a:pt x="0" y="15849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771144" y="2951988"/>
            <a:ext cx="2403348" cy="954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92964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F5CB4B75-CC85-5F87-B13B-97FD63FFBC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91213" y="6357666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94327" y="4722313"/>
            <a:ext cx="1521016" cy="12538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93726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9F3DE434-B07E-429D-5547-0D42DA9B05A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891539" y="5283707"/>
            <a:ext cx="2624328" cy="15742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86910" y="1699005"/>
            <a:ext cx="2599054" cy="269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695950" y="6465068"/>
            <a:ext cx="1210945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1.0. WAVEGUIDES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cccanvas-upv/pic-upv-lab1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70.png"/><Relationship Id="rId7" Type="http://schemas.openxmlformats.org/officeDocument/2006/relationships/image" Target="NULL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../media/image12.png"/><Relationship Id="rId5" Type="http://schemas.openxmlformats.org/officeDocument/2006/relationships/image" Target="../media/image4.svg"/><Relationship Id="rId10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NULL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749676" y="4919853"/>
            <a:ext cx="61067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200" b="1" dirty="0" err="1">
                <a:latin typeface="Lucida Sans"/>
                <a:cs typeface="Lucida Sans"/>
              </a:rPr>
              <a:t>Lab</a:t>
            </a:r>
            <a:r>
              <a:rPr lang="es-ES" sz="3200" b="1" dirty="0">
                <a:latin typeface="Lucida Sans"/>
                <a:cs typeface="Lucida Sans"/>
              </a:rPr>
              <a:t> Book 1.0. </a:t>
            </a:r>
            <a:r>
              <a:rPr lang="es-ES" sz="3200" b="1" dirty="0" err="1">
                <a:latin typeface="Lucida Sans"/>
                <a:cs typeface="Lucida Sans"/>
              </a:rPr>
              <a:t>Waveguides</a:t>
            </a:r>
            <a:endParaRPr sz="3200" dirty="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9676" y="5610250"/>
            <a:ext cx="822312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pc="165" dirty="0" err="1">
                <a:latin typeface="Arial"/>
                <a:cs typeface="Arial"/>
              </a:rPr>
              <a:t>Student</a:t>
            </a:r>
            <a:r>
              <a:rPr lang="es-ES" spc="165" dirty="0">
                <a:latin typeface="Arial"/>
                <a:cs typeface="Arial"/>
              </a:rPr>
              <a:t>: 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2192000" cy="41894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F66F51-9238-50FE-85C2-BAC3DA79D76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</a:t>
            </a:fld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8A4D4-C3C4-085B-A7AD-EA04D83F4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B7433F1-7A0E-D925-6140-7305139D05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6153785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500" u="sng" spc="-5" dirty="0" err="1">
                <a:latin typeface="+mj-lt"/>
                <a:cs typeface="Lucida Sans"/>
              </a:rPr>
              <a:t>Instructions</a:t>
            </a:r>
            <a:br>
              <a:rPr lang="es-ES" sz="2400" spc="-5" dirty="0">
                <a:latin typeface="+mj-lt"/>
                <a:cs typeface="Lucida Sans"/>
              </a:rPr>
            </a:br>
            <a:r>
              <a:rPr lang="es-ES" b="0" spc="-5" dirty="0">
                <a:latin typeface="+mj-lt"/>
                <a:cs typeface="Lucida Sans"/>
              </a:rPr>
              <a:t>General</a:t>
            </a:r>
            <a:endParaRPr sz="24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E518E73B-CE22-A00C-9C86-634FB762EE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1E163A6B-DFE4-C67D-5F3E-A56ACEF2EA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5FC84FF-30D3-FDAB-0A5A-0F07F8EE116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1.0. WAVEGUIDES</a:t>
            </a:r>
            <a:endParaRPr lang="es-ES" spc="-5"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9F7BC140-B3D8-C3CB-55AD-9064C7CDE9CA}"/>
              </a:ext>
            </a:extLst>
          </p:cNvPr>
          <p:cNvSpPr txBox="1">
            <a:spLocks/>
          </p:cNvSpPr>
          <p:nvPr/>
        </p:nvSpPr>
        <p:spPr>
          <a:xfrm>
            <a:off x="608011" y="1163263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b="1" kern="0" dirty="0">
                <a:solidFill>
                  <a:sysClr val="windowText" lastClr="000000"/>
                </a:solidFill>
                <a:sym typeface="Wingdings" pitchFamily="2" charset="2"/>
              </a:rPr>
              <a:t>SCRIPTS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From 	GitHub 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Fork the repo: </a:t>
            </a:r>
            <a:r>
              <a:rPr lang="es-ES" dirty="0" err="1">
                <a:hlinkClick r:id="rId4"/>
              </a:rPr>
              <a:t>cccanvas-upv</a:t>
            </a:r>
            <a:r>
              <a:rPr lang="es-ES">
                <a:hlinkClick r:id="rId4"/>
              </a:rPr>
              <a:t>/pic-upv-lab1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Clone the repo using </a:t>
            </a:r>
            <a:r>
              <a:rPr lang="en-US" kern="0" dirty="0" err="1">
                <a:solidFill>
                  <a:sysClr val="windowText" lastClr="000000"/>
                </a:solidFill>
                <a:sym typeface="Wingdings" pitchFamily="2" charset="2"/>
              </a:rPr>
              <a:t>VSCode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</a:rPr>
              <a:t>Run the </a:t>
            </a:r>
            <a:r>
              <a:rPr lang="en-US" kern="0" dirty="0" err="1">
                <a:solidFill>
                  <a:sysClr val="windowText" lastClr="000000"/>
                </a:solidFill>
              </a:rPr>
              <a:t>Jupyter</a:t>
            </a:r>
            <a:r>
              <a:rPr lang="en-US" kern="0" dirty="0">
                <a:solidFill>
                  <a:sysClr val="windowText" lastClr="000000"/>
                </a:solidFill>
              </a:rPr>
              <a:t> Notebook: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 err="1">
                <a:solidFill>
                  <a:sysClr val="windowText" lastClr="000000"/>
                </a:solidFill>
              </a:rPr>
              <a:t>WAVEGUIDES_Student.ipynb</a:t>
            </a:r>
            <a:r>
              <a:rPr lang="en-US" kern="0" dirty="0">
                <a:solidFill>
                  <a:sysClr val="windowText" lastClr="000000"/>
                </a:solidFill>
              </a:rPr>
              <a:t> </a:t>
            </a:r>
          </a:p>
          <a:p>
            <a:pPr algn="just"/>
            <a:endParaRPr lang="en-US" sz="2000" b="1" i="1" u="sng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96" name="object 7">
            <a:extLst>
              <a:ext uri="{FF2B5EF4-FFF2-40B4-BE49-F238E27FC236}">
                <a16:creationId xmlns:a16="http://schemas.microsoft.com/office/drawing/2014/main" id="{BB459788-0671-D4BA-B6DB-A3544D24EA92}"/>
              </a:ext>
            </a:extLst>
          </p:cNvPr>
          <p:cNvSpPr/>
          <p:nvPr/>
        </p:nvSpPr>
        <p:spPr>
          <a:xfrm>
            <a:off x="902765" y="3422925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62">
            <a:extLst>
              <a:ext uri="{FF2B5EF4-FFF2-40B4-BE49-F238E27FC236}">
                <a16:creationId xmlns:a16="http://schemas.microsoft.com/office/drawing/2014/main" id="{13E0425E-CEDF-CBC4-B34B-0CC3951920EA}"/>
              </a:ext>
            </a:extLst>
          </p:cNvPr>
          <p:cNvSpPr/>
          <p:nvPr/>
        </p:nvSpPr>
        <p:spPr>
          <a:xfrm>
            <a:off x="1747061" y="3983757"/>
            <a:ext cx="76200" cy="986155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63">
            <a:extLst>
              <a:ext uri="{FF2B5EF4-FFF2-40B4-BE49-F238E27FC236}">
                <a16:creationId xmlns:a16="http://schemas.microsoft.com/office/drawing/2014/main" id="{FDE45797-C0E3-ACE0-F66B-057BDEDB9070}"/>
              </a:ext>
            </a:extLst>
          </p:cNvPr>
          <p:cNvSpPr txBox="1"/>
          <p:nvPr/>
        </p:nvSpPr>
        <p:spPr>
          <a:xfrm>
            <a:off x="1091131" y="4210910"/>
            <a:ext cx="577850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h</a:t>
            </a:r>
            <a:endParaRPr sz="1400">
              <a:latin typeface="Calibri"/>
              <a:cs typeface="Calibri"/>
            </a:endParaRPr>
          </a:p>
          <a:p>
            <a:pPr marR="5080" algn="ctr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Calibri"/>
                <a:cs typeface="Calibri"/>
              </a:rPr>
              <a:t>(h</a:t>
            </a:r>
            <a:r>
              <a:rPr sz="1400" dirty="0">
                <a:latin typeface="Calibri"/>
                <a:cs typeface="Calibri"/>
              </a:rPr>
              <a:t>eig</a:t>
            </a:r>
            <a:r>
              <a:rPr sz="1400" spc="-25" dirty="0">
                <a:latin typeface="Calibri"/>
                <a:cs typeface="Calibri"/>
              </a:rPr>
              <a:t>h</a:t>
            </a:r>
            <a:r>
              <a:rPr sz="1400" spc="-5" dirty="0">
                <a:latin typeface="Calibri"/>
                <a:cs typeface="Calibri"/>
              </a:rPr>
              <a:t>t</a:t>
            </a:r>
            <a:r>
              <a:rPr sz="1400" dirty="0">
                <a:latin typeface="Calibri"/>
                <a:cs typeface="Calibri"/>
              </a:rPr>
              <a:t>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9" name="object 64">
            <a:extLst>
              <a:ext uri="{FF2B5EF4-FFF2-40B4-BE49-F238E27FC236}">
                <a16:creationId xmlns:a16="http://schemas.microsoft.com/office/drawing/2014/main" id="{ABAAA5DD-56CA-BF94-2180-F0866658B6B3}"/>
              </a:ext>
            </a:extLst>
          </p:cNvPr>
          <p:cNvSpPr/>
          <p:nvPr/>
        </p:nvSpPr>
        <p:spPr>
          <a:xfrm>
            <a:off x="1984805" y="3773445"/>
            <a:ext cx="1758314" cy="76200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65">
            <a:extLst>
              <a:ext uri="{FF2B5EF4-FFF2-40B4-BE49-F238E27FC236}">
                <a16:creationId xmlns:a16="http://schemas.microsoft.com/office/drawing/2014/main" id="{A1EF013C-5123-D9A7-DC76-FEFD731E96E2}"/>
              </a:ext>
            </a:extLst>
          </p:cNvPr>
          <p:cNvSpPr txBox="1"/>
          <p:nvPr/>
        </p:nvSpPr>
        <p:spPr>
          <a:xfrm>
            <a:off x="2504743" y="3532730"/>
            <a:ext cx="73342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01" name="object 73">
            <a:extLst>
              <a:ext uri="{FF2B5EF4-FFF2-40B4-BE49-F238E27FC236}">
                <a16:creationId xmlns:a16="http://schemas.microsoft.com/office/drawing/2014/main" id="{4C5C0871-D9B5-E642-7661-FFBCAD75720B}"/>
              </a:ext>
            </a:extLst>
          </p:cNvPr>
          <p:cNvSpPr txBox="1"/>
          <p:nvPr/>
        </p:nvSpPr>
        <p:spPr>
          <a:xfrm>
            <a:off x="1984805" y="3983757"/>
            <a:ext cx="1758950" cy="986155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02" name="object 74">
            <a:extLst>
              <a:ext uri="{FF2B5EF4-FFF2-40B4-BE49-F238E27FC236}">
                <a16:creationId xmlns:a16="http://schemas.microsoft.com/office/drawing/2014/main" id="{10CC4DBA-05F4-4CDC-BA0E-6200AF622CA9}"/>
              </a:ext>
            </a:extLst>
          </p:cNvPr>
          <p:cNvSpPr txBox="1"/>
          <p:nvPr/>
        </p:nvSpPr>
        <p:spPr>
          <a:xfrm>
            <a:off x="3983988" y="4338253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1" name="object 7">
            <a:extLst>
              <a:ext uri="{FF2B5EF4-FFF2-40B4-BE49-F238E27FC236}">
                <a16:creationId xmlns:a16="http://schemas.microsoft.com/office/drawing/2014/main" id="{06801468-6F27-A16A-64E3-D7AD4B6B6B96}"/>
              </a:ext>
            </a:extLst>
          </p:cNvPr>
          <p:cNvSpPr/>
          <p:nvPr/>
        </p:nvSpPr>
        <p:spPr>
          <a:xfrm>
            <a:off x="7391400" y="3422925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64">
            <a:extLst>
              <a:ext uri="{FF2B5EF4-FFF2-40B4-BE49-F238E27FC236}">
                <a16:creationId xmlns:a16="http://schemas.microsoft.com/office/drawing/2014/main" id="{D9E5D738-CA47-1898-E0D8-DFBC514F5A50}"/>
              </a:ext>
            </a:extLst>
          </p:cNvPr>
          <p:cNvSpPr/>
          <p:nvPr/>
        </p:nvSpPr>
        <p:spPr>
          <a:xfrm>
            <a:off x="8473440" y="3773445"/>
            <a:ext cx="1758314" cy="76200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65">
            <a:extLst>
              <a:ext uri="{FF2B5EF4-FFF2-40B4-BE49-F238E27FC236}">
                <a16:creationId xmlns:a16="http://schemas.microsoft.com/office/drawing/2014/main" id="{74A4CAE1-BC33-1BCD-6F24-54F1DFA8AEDB}"/>
              </a:ext>
            </a:extLst>
          </p:cNvPr>
          <p:cNvSpPr txBox="1"/>
          <p:nvPr/>
        </p:nvSpPr>
        <p:spPr>
          <a:xfrm>
            <a:off x="8993378" y="3532730"/>
            <a:ext cx="73342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16" name="object 73">
            <a:extLst>
              <a:ext uri="{FF2B5EF4-FFF2-40B4-BE49-F238E27FC236}">
                <a16:creationId xmlns:a16="http://schemas.microsoft.com/office/drawing/2014/main" id="{CC9D2269-0CA8-143F-4E45-F3AF594A2ED3}"/>
              </a:ext>
            </a:extLst>
          </p:cNvPr>
          <p:cNvSpPr txBox="1"/>
          <p:nvPr/>
        </p:nvSpPr>
        <p:spPr>
          <a:xfrm>
            <a:off x="8473440" y="3983757"/>
            <a:ext cx="1758950" cy="986155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7" name="object 74">
            <a:extLst>
              <a:ext uri="{FF2B5EF4-FFF2-40B4-BE49-F238E27FC236}">
                <a16:creationId xmlns:a16="http://schemas.microsoft.com/office/drawing/2014/main" id="{8A3332FF-25D4-1955-323F-BBD1D30324AC}"/>
              </a:ext>
            </a:extLst>
          </p:cNvPr>
          <p:cNvSpPr txBox="1"/>
          <p:nvPr/>
        </p:nvSpPr>
        <p:spPr>
          <a:xfrm>
            <a:off x="10472623" y="4338253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20" name="object 73">
            <a:extLst>
              <a:ext uri="{FF2B5EF4-FFF2-40B4-BE49-F238E27FC236}">
                <a16:creationId xmlns:a16="http://schemas.microsoft.com/office/drawing/2014/main" id="{C699977C-9138-F9B9-E43D-0CCB01AEB75F}"/>
              </a:ext>
            </a:extLst>
          </p:cNvPr>
          <p:cNvSpPr txBox="1"/>
          <p:nvPr/>
        </p:nvSpPr>
        <p:spPr>
          <a:xfrm>
            <a:off x="7391400" y="4690819"/>
            <a:ext cx="3906179" cy="610424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lang="es-ES" sz="2350" dirty="0">
              <a:latin typeface="Times New Roman"/>
              <a:cs typeface="Times New Roman"/>
            </a:endParaRPr>
          </a:p>
          <a:p>
            <a:pPr marL="18415">
              <a:lnSpc>
                <a:spcPct val="100000"/>
              </a:lnSpc>
            </a:pPr>
            <a:r>
              <a:rPr lang="es-ES" sz="1600" b="1" spc="-10" dirty="0" err="1">
                <a:latin typeface="Calibri"/>
                <a:cs typeface="Calibri"/>
              </a:rPr>
              <a:t>Slab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2" name="object 62">
            <a:extLst>
              <a:ext uri="{FF2B5EF4-FFF2-40B4-BE49-F238E27FC236}">
                <a16:creationId xmlns:a16="http://schemas.microsoft.com/office/drawing/2014/main" id="{04561701-4B4F-F208-98F6-2DAB5C1138D3}"/>
              </a:ext>
            </a:extLst>
          </p:cNvPr>
          <p:cNvSpPr/>
          <p:nvPr/>
        </p:nvSpPr>
        <p:spPr>
          <a:xfrm>
            <a:off x="8575910" y="3994221"/>
            <a:ext cx="56259" cy="694989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62">
            <a:extLst>
              <a:ext uri="{FF2B5EF4-FFF2-40B4-BE49-F238E27FC236}">
                <a16:creationId xmlns:a16="http://schemas.microsoft.com/office/drawing/2014/main" id="{CCA3B0D6-0C9E-B4A6-FA43-1AB5F1821674}"/>
              </a:ext>
            </a:extLst>
          </p:cNvPr>
          <p:cNvSpPr/>
          <p:nvPr/>
        </p:nvSpPr>
        <p:spPr>
          <a:xfrm>
            <a:off x="8233207" y="4689210"/>
            <a:ext cx="55008" cy="613272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63">
            <a:extLst>
              <a:ext uri="{FF2B5EF4-FFF2-40B4-BE49-F238E27FC236}">
                <a16:creationId xmlns:a16="http://schemas.microsoft.com/office/drawing/2014/main" id="{6394166D-0522-24AD-E666-39FE8A3FDC24}"/>
              </a:ext>
            </a:extLst>
          </p:cNvPr>
          <p:cNvSpPr txBox="1"/>
          <p:nvPr/>
        </p:nvSpPr>
        <p:spPr>
          <a:xfrm>
            <a:off x="8351994" y="4887127"/>
            <a:ext cx="674053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>
              <a:lnSpc>
                <a:spcPct val="100000"/>
              </a:lnSpc>
              <a:spcBef>
                <a:spcPts val="105"/>
              </a:spcBef>
            </a:pPr>
            <a:r>
              <a:rPr lang="es-ES" sz="1400" dirty="0" err="1">
                <a:latin typeface="Calibri"/>
                <a:cs typeface="Calibri"/>
              </a:rPr>
              <a:t>h_slab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22" name="object 63">
            <a:extLst>
              <a:ext uri="{FF2B5EF4-FFF2-40B4-BE49-F238E27FC236}">
                <a16:creationId xmlns:a16="http://schemas.microsoft.com/office/drawing/2014/main" id="{B589EB7D-B26E-4239-A5C2-F96DBBE82162}"/>
              </a:ext>
            </a:extLst>
          </p:cNvPr>
          <p:cNvSpPr txBox="1"/>
          <p:nvPr/>
        </p:nvSpPr>
        <p:spPr>
          <a:xfrm>
            <a:off x="8706378" y="3990085"/>
            <a:ext cx="138017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>
              <a:lnSpc>
                <a:spcPct val="100000"/>
              </a:lnSpc>
              <a:spcBef>
                <a:spcPts val="105"/>
              </a:spcBef>
            </a:pPr>
            <a:r>
              <a:rPr lang="es-ES" sz="1400" spc="-10" dirty="0" err="1">
                <a:latin typeface="Calibri"/>
                <a:cs typeface="Calibri"/>
              </a:rPr>
              <a:t>h_core</a:t>
            </a:r>
            <a:r>
              <a:rPr lang="es-ES" sz="1400" spc="-10" dirty="0">
                <a:latin typeface="Calibri"/>
                <a:cs typeface="Calibri"/>
              </a:rPr>
              <a:t> 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7D9AFBE-EF33-9078-9CE3-5C8B079B0C36}"/>
              </a:ext>
            </a:extLst>
          </p:cNvPr>
          <p:cNvSpPr txBox="1"/>
          <p:nvPr/>
        </p:nvSpPr>
        <p:spPr>
          <a:xfrm>
            <a:off x="9306491" y="5257071"/>
            <a:ext cx="1980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shallow</a:t>
            </a:r>
            <a:r>
              <a:rPr lang="en-US" dirty="0"/>
              <a:t> waveguide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336B5D8-2D70-3E7A-336D-AF55EC49DEB8}"/>
              </a:ext>
            </a:extLst>
          </p:cNvPr>
          <p:cNvSpPr txBox="1"/>
          <p:nvPr/>
        </p:nvSpPr>
        <p:spPr>
          <a:xfrm>
            <a:off x="2969899" y="5257071"/>
            <a:ext cx="215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</p:txBody>
      </p:sp>
    </p:spTree>
    <p:extLst>
      <p:ext uri="{BB962C8B-B14F-4D97-AF65-F5344CB8AC3E}">
        <p14:creationId xmlns:p14="http://schemas.microsoft.com/office/powerpoint/2010/main" val="473922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0DA9C-35AF-A1D7-01E5-BFD9DEF15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471E1424-6C4B-2D9A-1352-30AFB987AD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 – Convergence tests</a:t>
            </a:r>
            <a:br>
              <a:rPr lang="en-US" sz="2500" dirty="0"/>
            </a:br>
            <a:r>
              <a:rPr lang="nl-NL" b="0" dirty="0"/>
              <a:t>DE waveguide, w = 1.2 µm, neff_TE0, wvl 1.55 µm. </a:t>
            </a: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9DCFD462-4416-65F8-5696-B0135B6327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293F5C1D-AFFF-4EA6-CA59-6503F34EBF5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4F13AC1-9668-7266-DF5B-D7CE084AB04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1.0. WAVEGUIDES</a:t>
            </a:r>
            <a:endParaRPr lang="es-ES" spc="-5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67C6D40-33EE-D9BE-7F58-8D96221D0D59}"/>
              </a:ext>
            </a:extLst>
          </p:cNvPr>
          <p:cNvSpPr/>
          <p:nvPr/>
        </p:nvSpPr>
        <p:spPr>
          <a:xfrm>
            <a:off x="609441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3A5ECC9-91D2-2918-1681-822F99EB31CD}"/>
              </a:ext>
            </a:extLst>
          </p:cNvPr>
          <p:cNvSpPr txBox="1"/>
          <p:nvPr/>
        </p:nvSpPr>
        <p:spPr>
          <a:xfrm>
            <a:off x="1079403" y="2709096"/>
            <a:ext cx="45466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Paste neff_TE0 vs </a:t>
            </a:r>
            <a:r>
              <a:rPr lang="en-US" dirty="0" err="1"/>
              <a:t>grid_resolution</a:t>
            </a:r>
            <a:r>
              <a:rPr lang="en-US" dirty="0"/>
              <a:t> plot here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814CDD6-2B59-8488-4EB8-82801B4D3F22}"/>
              </a:ext>
            </a:extLst>
          </p:cNvPr>
          <p:cNvSpPr txBox="1"/>
          <p:nvPr/>
        </p:nvSpPr>
        <p:spPr>
          <a:xfrm>
            <a:off x="609441" y="4860334"/>
            <a:ext cx="11199971" cy="138499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Comment results, determine above which grid value the effective index calculation does not change significantly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29F2FF9-FEB4-7AA3-B3B4-EFA9CFA0E230}"/>
              </a:ext>
            </a:extLst>
          </p:cNvPr>
          <p:cNvSpPr/>
          <p:nvPr/>
        </p:nvSpPr>
        <p:spPr>
          <a:xfrm>
            <a:off x="6322853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2C94B57-6111-4070-F6BA-8C3B9C305618}"/>
              </a:ext>
            </a:extLst>
          </p:cNvPr>
          <p:cNvSpPr txBox="1"/>
          <p:nvPr/>
        </p:nvSpPr>
        <p:spPr>
          <a:xfrm>
            <a:off x="6792815" y="2698951"/>
            <a:ext cx="45466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Paste neff_TE0 vs </a:t>
            </a:r>
            <a:r>
              <a:rPr lang="en-US" dirty="0" err="1"/>
              <a:t>max_grid_scaling</a:t>
            </a:r>
            <a:r>
              <a:rPr lang="en-US" dirty="0"/>
              <a:t> plot here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3B8B484-C556-BA90-FDD3-7B5571C4C5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527" y="1462355"/>
            <a:ext cx="5812374" cy="316182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11E23C9E-53C7-5B9F-A370-894221BF90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0010" y="1462355"/>
            <a:ext cx="5959857" cy="3212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501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0AC3D-36B7-D786-3825-B4DD6EADD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6AA2E789-F7AE-F068-274C-E0F13A22DB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#2 – Width dependence</a:t>
            </a:r>
            <a:br>
              <a:rPr lang="es-ES" sz="2500" spc="-5" dirty="0">
                <a:latin typeface="+mj-lt"/>
                <a:cs typeface="Lucida Sans"/>
              </a:rPr>
            </a:br>
            <a:r>
              <a:rPr lang="en-US" b="0" dirty="0"/>
              <a:t>Width 0.6 - 1.6 µm (step 0.1 µm) – Wavelength 1.55 µm </a:t>
            </a: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3AEAD01B-7604-8009-5694-A556497AEF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696E3846-1BD2-4F23-48AA-C7AF2A1EE6E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32C0E2B-75B6-4768-A4C7-F165A264DA0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 dirty="0"/>
              <a:t>LAB 0.1. MODESOLVER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2A62DD6-5488-72A1-9926-0CAEE59089A9}"/>
              </a:ext>
            </a:extLst>
          </p:cNvPr>
          <p:cNvSpPr txBox="1"/>
          <p:nvPr/>
        </p:nvSpPr>
        <p:spPr>
          <a:xfrm>
            <a:off x="609441" y="4860334"/>
            <a:ext cx="11199971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Comment results (neff changes this way with width, polarization behavior,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…)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BC7D187-267A-ADD4-764C-D3820B8ED302}"/>
              </a:ext>
            </a:extLst>
          </p:cNvPr>
          <p:cNvSpPr/>
          <p:nvPr/>
        </p:nvSpPr>
        <p:spPr>
          <a:xfrm>
            <a:off x="609441" y="1418373"/>
            <a:ext cx="111999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EF5BFDA-8EC1-8C73-A932-F36C4DB93C73}"/>
              </a:ext>
            </a:extLst>
          </p:cNvPr>
          <p:cNvSpPr txBox="1"/>
          <p:nvPr/>
        </p:nvSpPr>
        <p:spPr>
          <a:xfrm>
            <a:off x="2286000" y="2671278"/>
            <a:ext cx="77185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Paste plot here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F4EB84E-6C9F-7354-8A57-423659699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2800" y="1352464"/>
            <a:ext cx="5905500" cy="3437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117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DA0F9-B230-D9FC-3CE7-03BD08CF5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6">
                <a:extLst>
                  <a:ext uri="{FF2B5EF4-FFF2-40B4-BE49-F238E27FC236}">
                    <a16:creationId xmlns:a16="http://schemas.microsoft.com/office/drawing/2014/main" id="{394400B4-EE16-8E85-AB54-E82FE3B29345}"/>
                  </a:ext>
                </a:extLst>
              </p:cNvPr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685800" y="408883"/>
                <a:ext cx="10994410" cy="107125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sz="2500" dirty="0"/>
                  <a:t>Learning outcome #3 – Waveguide compact model</a:t>
                </a:r>
                <a:br>
                  <a:rPr lang="en-US" sz="2500" spc="-5" dirty="0">
                    <a:latin typeface="+mj-lt"/>
                    <a:cs typeface="Lucida Sans"/>
                  </a:rPr>
                </a:br>
                <a:r>
                  <a:rPr lang="en-US" b="0" dirty="0"/>
                  <a:t>Let’s model the waveguide using a second order polynomial: </a:t>
                </a:r>
                <a:br>
                  <a:rPr lang="en-US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𝑒𝑓𝑓</m:t>
                          </m:r>
                        </m:sub>
                      </m:sSub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br>
                  <a:rPr lang="en-US" b="0" dirty="0"/>
                </a:br>
                <a:endParaRPr lang="en-US" sz="2500" b="0" dirty="0">
                  <a:latin typeface="+mj-lt"/>
                  <a:cs typeface="Lucida Sans"/>
                </a:endParaRPr>
              </a:p>
            </p:txBody>
          </p:sp>
        </mc:Choice>
        <mc:Fallback xmlns="">
          <p:sp>
            <p:nvSpPr>
              <p:cNvPr id="16" name="object 16">
                <a:extLst>
                  <a:ext uri="{FF2B5EF4-FFF2-40B4-BE49-F238E27FC236}">
                    <a16:creationId xmlns:a16="http://schemas.microsoft.com/office/drawing/2014/main" id="{394400B4-EE16-8E85-AB54-E82FE3B29345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85800" y="408883"/>
                <a:ext cx="10994410" cy="1071255"/>
              </a:xfrm>
              <a:prstGeom prst="rect">
                <a:avLst/>
              </a:prstGeom>
              <a:blipFill>
                <a:blip r:embed="rId3"/>
                <a:stretch>
                  <a:fillRect l="-1664" t="-7386" b="-454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3" name="Gráfico 82">
            <a:extLst>
              <a:ext uri="{FF2B5EF4-FFF2-40B4-BE49-F238E27FC236}">
                <a16:creationId xmlns:a16="http://schemas.microsoft.com/office/drawing/2014/main" id="{4D53B68D-17ED-7EFB-F2B4-10DA7A772E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09AB8697-C1EE-6E9A-6550-ACA2C3AE663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70D4A6C-5B37-EDF5-6242-74B16127E96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1.0. WAVEGUIDES</a:t>
            </a:r>
            <a:endParaRPr lang="es-ES" spc="-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A440F587-93A3-E474-C0B0-883BB9DAFD85}"/>
                  </a:ext>
                </a:extLst>
              </p:cNvPr>
              <p:cNvSpPr txBox="1"/>
              <p:nvPr/>
            </p:nvSpPr>
            <p:spPr>
              <a:xfrm>
                <a:off x="609441" y="4860334"/>
                <a:ext cx="11198542" cy="136191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rgbClr val="E0700D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Find the second-degree polynomial coefficients and relate them with the group index and the dispersion parameter.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s-ES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s-E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𝑒𝑓𝑓</m:t>
                                </m:r>
                              </m:sub>
                            </m:sSub>
                            <m:r>
                              <a:rPr lang="es-E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𝑔</m:t>
                                </m:r>
                              </m:sub>
                            </m:sSub>
                            <m:r>
                              <a:rPr lang="es-E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s-E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e>
                            <m:r>
                              <a:rPr lang="es-E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𝐷</m:t>
                            </m:r>
                            <m:r>
                              <a:rPr lang="es-E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=−</m:t>
                            </m:r>
                            <m:f>
                              <m:fPr>
                                <m:ctrlP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s-ES" sz="1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s-ES" sz="1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sz="1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s-ES" sz="1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𝑐</m:t>
                                </m:r>
                              </m:den>
                            </m:f>
                            <m:d>
                              <m:dPr>
                                <m:begChr m:val="["/>
                                <m:endChr m:val="]"/>
                                <m:ctrlP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s-ES" sz="1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s-ES" sz="1200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ES" sz="1200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s-ES" sz="1200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s-ES" sz="1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𝑚</m:t>
                                    </m:r>
                                  </m:den>
                                </m:f>
                              </m:e>
                            </m:d>
                          </m:e>
                        </m:eqArr>
                      </m:e>
                    </m:d>
                  </m:oMath>
                </a14:m>
                <a:endParaRPr lang="es-ES" sz="12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algn="just"/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Comment on the results found for the TE0 and TM0 for both deep and shallow waveguides. </a:t>
                </a:r>
              </a:p>
              <a:p>
                <a:pPr algn="just"/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A440F587-93A3-E474-C0B0-883BB9DAFD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41" y="4860334"/>
                <a:ext cx="11198542" cy="136191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rgbClr val="E0700D"/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ángulo 4">
            <a:extLst>
              <a:ext uri="{FF2B5EF4-FFF2-40B4-BE49-F238E27FC236}">
                <a16:creationId xmlns:a16="http://schemas.microsoft.com/office/drawing/2014/main" id="{A6B92C76-6772-2E00-346F-532321092C04}"/>
              </a:ext>
            </a:extLst>
          </p:cNvPr>
          <p:cNvSpPr/>
          <p:nvPr/>
        </p:nvSpPr>
        <p:spPr>
          <a:xfrm>
            <a:off x="609441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886628E-6E58-1F7E-B6C6-432B9A228397}"/>
              </a:ext>
            </a:extLst>
          </p:cNvPr>
          <p:cNvSpPr/>
          <p:nvPr/>
        </p:nvSpPr>
        <p:spPr>
          <a:xfrm>
            <a:off x="6321424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C59B6428-4395-242F-54D8-A9FC610F2D7A}"/>
                  </a:ext>
                </a:extLst>
              </p:cNvPr>
              <p:cNvSpPr txBox="1"/>
              <p:nvPr/>
            </p:nvSpPr>
            <p:spPr>
              <a:xfrm>
                <a:off x="609440" y="2709096"/>
                <a:ext cx="548655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deep</a:t>
                </a:r>
                <a:r>
                  <a:rPr lang="en-US" dirty="0"/>
                  <a:t> waveguide</a:t>
                </a:r>
              </a:p>
              <a:p>
                <a:pPr algn="ctr"/>
                <a:endParaRPr lang="en-US" dirty="0"/>
              </a:p>
              <a:p>
                <a:pPr algn="ctr"/>
                <a:r>
                  <a:rPr lang="en-US" b="1" dirty="0"/>
                  <a:t>neff_TE0 vs </a:t>
                </a:r>
                <a14:m>
                  <m:oMath xmlns:m="http://schemas.openxmlformats.org/officeDocument/2006/math">
                    <m:r>
                      <a:rPr lang="es-ES" b="1" i="1" smtClean="0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with the second-degree polynomial fit  </a:t>
                </a:r>
              </a:p>
              <a:p>
                <a:pPr algn="ctr"/>
                <a:r>
                  <a:rPr lang="en-US" dirty="0"/>
                  <a:t>&amp; </a:t>
                </a:r>
                <a:r>
                  <a:rPr lang="en-US" b="1" dirty="0"/>
                  <a:t>neff_TM0 vs </a:t>
                </a:r>
                <a14:m>
                  <m:oMath xmlns:m="http://schemas.openxmlformats.org/officeDocument/2006/math">
                    <m:r>
                      <a:rPr lang="es-ES" b="1" i="1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with the second-degree polynomial fit </a:t>
                </a:r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C59B6428-4395-242F-54D8-A9FC610F2D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40" y="2709096"/>
                <a:ext cx="5486559" cy="1200329"/>
              </a:xfrm>
              <a:prstGeom prst="rect">
                <a:avLst/>
              </a:prstGeom>
              <a:blipFill>
                <a:blip r:embed="rId7"/>
                <a:stretch>
                  <a:fillRect t="-2538" r="-556" b="-710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9320AF78-1FC6-19F4-8E0B-8A414F20C6DE}"/>
                  </a:ext>
                </a:extLst>
              </p:cNvPr>
              <p:cNvSpPr txBox="1"/>
              <p:nvPr/>
            </p:nvSpPr>
            <p:spPr>
              <a:xfrm>
                <a:off x="6321421" y="2709096"/>
                <a:ext cx="548655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shallow</a:t>
                </a:r>
                <a:r>
                  <a:rPr lang="en-US" dirty="0"/>
                  <a:t> waveguide</a:t>
                </a:r>
              </a:p>
              <a:p>
                <a:pPr algn="ctr"/>
                <a:endParaRPr lang="en-US" dirty="0"/>
              </a:p>
              <a:p>
                <a:pPr algn="ctr"/>
                <a:r>
                  <a:rPr lang="en-US" b="1" dirty="0"/>
                  <a:t>neff_TE0 vs </a:t>
                </a:r>
                <a14:m>
                  <m:oMath xmlns:m="http://schemas.openxmlformats.org/officeDocument/2006/math">
                    <m:r>
                      <a:rPr lang="es-ES" b="1" i="1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with the second-degree polynomial fit  </a:t>
                </a:r>
              </a:p>
              <a:p>
                <a:pPr algn="ctr"/>
                <a:r>
                  <a:rPr lang="en-US" dirty="0"/>
                  <a:t>&amp; </a:t>
                </a:r>
                <a:r>
                  <a:rPr lang="en-US" b="1" dirty="0"/>
                  <a:t>neff_TM0 vs </a:t>
                </a:r>
                <a14:m>
                  <m:oMath xmlns:m="http://schemas.openxmlformats.org/officeDocument/2006/math">
                    <m:r>
                      <a:rPr lang="es-ES" b="1" i="1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with the second-degree polynomial fit </a:t>
                </a: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9320AF78-1FC6-19F4-8E0B-8A414F20C6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1421" y="2709096"/>
                <a:ext cx="5486559" cy="1200329"/>
              </a:xfrm>
              <a:prstGeom prst="rect">
                <a:avLst/>
              </a:prstGeom>
              <a:blipFill>
                <a:blip r:embed="rId8"/>
                <a:stretch>
                  <a:fillRect t="-2538" r="-556" b="-710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uadroTexto 7">
            <a:extLst>
              <a:ext uri="{FF2B5EF4-FFF2-40B4-BE49-F238E27FC236}">
                <a16:creationId xmlns:a16="http://schemas.microsoft.com/office/drawing/2014/main" id="{0F38E924-A0E7-A039-C837-916BA77FE89B}"/>
              </a:ext>
            </a:extLst>
          </p:cNvPr>
          <p:cNvSpPr txBox="1"/>
          <p:nvPr/>
        </p:nvSpPr>
        <p:spPr>
          <a:xfrm>
            <a:off x="6347361" y="4498712"/>
            <a:ext cx="5486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slab: 150nm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n 6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FA151698-727C-8583-9AE5-D6B9E8F5C75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10262" y="1411368"/>
            <a:ext cx="6205538" cy="3411231"/>
          </a:xfrm>
          <a:prstGeom prst="rect">
            <a:avLst/>
          </a:prstGeom>
        </p:spPr>
      </p:pic>
      <p:pic>
        <p:nvPicPr>
          <p:cNvPr id="12" name="Imagen 11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F1EC07EE-FA51-FF37-4903-6D50F621B2F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4060" y="1421304"/>
            <a:ext cx="5734671" cy="3152392"/>
          </a:xfrm>
          <a:prstGeom prst="rect">
            <a:avLst/>
          </a:prstGeom>
        </p:spPr>
      </p:pic>
      <p:pic>
        <p:nvPicPr>
          <p:cNvPr id="14" name="Imagen 13" descr="Texto&#10;&#10;El contenido generado por IA puede ser incorrecto.">
            <a:extLst>
              <a:ext uri="{FF2B5EF4-FFF2-40B4-BE49-F238E27FC236}">
                <a16:creationId xmlns:a16="http://schemas.microsoft.com/office/drawing/2014/main" id="{EEEE56E1-E96D-FA9B-236F-706EBBC5D90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5793" y="2450296"/>
            <a:ext cx="5448300" cy="3619500"/>
          </a:xfrm>
          <a:prstGeom prst="rect">
            <a:avLst/>
          </a:prstGeom>
        </p:spPr>
      </p:pic>
      <p:pic>
        <p:nvPicPr>
          <p:cNvPr id="17" name="Imagen 16" descr="Texto&#10;&#10;El contenido generado por IA puede ser incorrecto.">
            <a:extLst>
              <a:ext uri="{FF2B5EF4-FFF2-40B4-BE49-F238E27FC236}">
                <a16:creationId xmlns:a16="http://schemas.microsoft.com/office/drawing/2014/main" id="{AA956FA2-AD7C-EFF5-F77A-91C4C873015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90464" y="2168683"/>
            <a:ext cx="6000750" cy="370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54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34E70-43B1-3881-1771-20FB43584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742C31CE-19F0-B995-0997-9A2D6A879B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#4 – Bend waveguide radius vs. loss – deep</a:t>
            </a:r>
            <a:br>
              <a:rPr lang="en-US" sz="2500" dirty="0"/>
            </a:br>
            <a:r>
              <a:rPr lang="en-US" b="0" dirty="0"/>
              <a:t>Find  neff_TE0 for </a:t>
            </a:r>
            <a:r>
              <a:rPr lang="en-US" b="0" dirty="0" err="1"/>
              <a:t>wvl</a:t>
            </a:r>
            <a:r>
              <a:rPr lang="en-US" b="0" dirty="0"/>
              <a:t> 1.55 µm, width 1.0 µm for R=25,50,75,100, 125,150 µm</a:t>
            </a:r>
            <a:br>
              <a:rPr lang="en-US" sz="2500" dirty="0"/>
            </a:b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D688A609-F3DC-EE34-C536-683E70F32E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B6C672C6-89D4-7E67-2B94-811D081786A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A1F4313-D710-7A3E-7A8F-EB77DEE3C1A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1.0. WAVEGUIDES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DE3A197-9508-F9F1-1FEB-FF883D78C151}"/>
              </a:ext>
            </a:extLst>
          </p:cNvPr>
          <p:cNvSpPr txBox="1"/>
          <p:nvPr/>
        </p:nvSpPr>
        <p:spPr>
          <a:xfrm>
            <a:off x="609441" y="4860334"/>
            <a:ext cx="11199971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Comment results, which is the safe radius, consider safe means less than 0.1 dB/90º.</a:t>
            </a:r>
          </a:p>
          <a:p>
            <a:pPr algn="just"/>
            <a:endParaRPr lang="en-US" sz="1200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409FBBBB-69CA-B7E5-7176-8227F2788CF5}"/>
                  </a:ext>
                </a:extLst>
              </p:cNvPr>
              <p:cNvSpPr txBox="1"/>
              <p:nvPr/>
            </p:nvSpPr>
            <p:spPr>
              <a:xfrm>
                <a:off x="9941529" y="4179383"/>
                <a:ext cx="1856534" cy="4396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1800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["/>
                        <m:endChr m:val="]"/>
                        <m:ctrlPr>
                          <a:rPr lang="es-E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  <m:t>𝑑𝐵</m:t>
                            </m:r>
                          </m:num>
                          <m:den>
                            <m: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  <m:t>90</m:t>
                            </m:r>
                            <m:r>
                              <a:rPr lang="es-E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°</m:t>
                            </m:r>
                          </m:den>
                        </m:f>
                      </m:e>
                    </m:d>
                    <m:r>
                      <a:rPr lang="es-ES" sz="18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ES" sz="18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 sz="1800" b="0" i="0" smtClean="0">
                        <a:latin typeface="Cambria Math" panose="02040503050406030204" pitchFamily="18" charset="0"/>
                      </a:rPr>
                      <m:t>R</m:t>
                    </m:r>
                    <m:f>
                      <m:fPr>
                        <m:ctrlPr>
                          <a:rPr lang="es-E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s-ES" sz="1800" i="1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["/>
                        <m:endChr m:val="]"/>
                        <m:ctrlPr>
                          <a:rPr lang="es-E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ES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sz="1800" i="1">
                                <a:latin typeface="Cambria Math" panose="02040503050406030204" pitchFamily="18" charset="0"/>
                              </a:rPr>
                              <m:t>𝑑𝐵</m:t>
                            </m:r>
                          </m:num>
                          <m:den>
                            <m:r>
                              <a:rPr lang="es-ES" sz="1800" i="1">
                                <a:latin typeface="Cambria Math" panose="02040503050406030204" pitchFamily="18" charset="0"/>
                              </a:rPr>
                              <m:t>µ</m:t>
                            </m:r>
                            <m:r>
                              <a:rPr lang="es-ES" sz="18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409FBBBB-69CA-B7E5-7176-8227F2788C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1529" y="4179383"/>
                <a:ext cx="1856534" cy="439608"/>
              </a:xfrm>
              <a:prstGeom prst="rect">
                <a:avLst/>
              </a:prstGeom>
              <a:blipFill>
                <a:blip r:embed="rId5"/>
                <a:stretch>
                  <a:fillRect l="-3289" b="-1388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ángulo 6">
            <a:extLst>
              <a:ext uri="{FF2B5EF4-FFF2-40B4-BE49-F238E27FC236}">
                <a16:creationId xmlns:a16="http://schemas.microsoft.com/office/drawing/2014/main" id="{B5FE8755-B0BF-14B7-64E6-4BBB2560B9A6}"/>
              </a:ext>
            </a:extLst>
          </p:cNvPr>
          <p:cNvSpPr/>
          <p:nvPr/>
        </p:nvSpPr>
        <p:spPr>
          <a:xfrm>
            <a:off x="609441" y="1418373"/>
            <a:ext cx="111999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31EBD86-BA6C-68C9-2D38-FC8CFBA7ADC4}"/>
              </a:ext>
            </a:extLst>
          </p:cNvPr>
          <p:cNvSpPr txBox="1"/>
          <p:nvPr/>
        </p:nvSpPr>
        <p:spPr>
          <a:xfrm>
            <a:off x="3200400" y="2911778"/>
            <a:ext cx="62357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Paste dB/90º neff_TE0 &amp; neff_TM0 vs R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C3A4C9A-F8AC-9BD8-BC33-202373CF7FF7}"/>
              </a:ext>
            </a:extLst>
          </p:cNvPr>
          <p:cNvSpPr txBox="1"/>
          <p:nvPr/>
        </p:nvSpPr>
        <p:spPr>
          <a:xfrm>
            <a:off x="4479276" y="1586669"/>
            <a:ext cx="1752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Safe</a:t>
            </a:r>
            <a:r>
              <a:rPr lang="es-ES" dirty="0"/>
              <a:t> </a:t>
            </a:r>
            <a:r>
              <a:rPr lang="es-ES" dirty="0" err="1"/>
              <a:t>radiu</a:t>
            </a:r>
            <a:r>
              <a:rPr lang="es-ES" dirty="0"/>
              <a:t> TE s : 75 -&gt; analizando que se ve que se estabiliza el índice a partir de </a:t>
            </a:r>
            <a:r>
              <a:rPr lang="es-ES" dirty="0" err="1"/>
              <a:t>ahi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584BE9C-4E02-1C5F-1A13-31EB6FE7F6CE}"/>
              </a:ext>
            </a:extLst>
          </p:cNvPr>
          <p:cNvSpPr txBox="1"/>
          <p:nvPr/>
        </p:nvSpPr>
        <p:spPr>
          <a:xfrm>
            <a:off x="7772400" y="2209800"/>
            <a:ext cx="2169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Safe</a:t>
            </a:r>
            <a:r>
              <a:rPr lang="es-ES" dirty="0"/>
              <a:t> </a:t>
            </a:r>
            <a:r>
              <a:rPr lang="es-ES" dirty="0" err="1"/>
              <a:t>radius</a:t>
            </a:r>
            <a:r>
              <a:rPr lang="es-ES" dirty="0"/>
              <a:t>: 50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C5F36ED-4157-C8D0-384E-8DF8E59CD9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127" y="1529762"/>
            <a:ext cx="3594093" cy="2839084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5F318440-5FBC-93FE-71CA-D4592689E8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0" y="2635622"/>
            <a:ext cx="4023957" cy="3087522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6EE2FD55-2C96-EE36-8DD6-EBAD47C070D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8395" y="3640018"/>
            <a:ext cx="3754361" cy="2520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438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9EBBD3C8-ECF7-96F6-561E-73501DE7A06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7</a:t>
            </a:fld>
            <a:endParaRPr lang="es-E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B28C5BF-6E00-F4C8-53D4-01F47458C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17154" y="39914"/>
            <a:ext cx="6515100" cy="35814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5823A1E-CA6E-2EDE-DB35-5535A6C195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1660" y="25400"/>
            <a:ext cx="6515100" cy="35814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9BDA460-8559-59C5-9C2C-CBCADC71AF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81000" y="2163127"/>
            <a:ext cx="7534685" cy="438626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D3F18E53-796A-F2C5-AEC0-E10058D449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2710" y="2044065"/>
            <a:ext cx="5734050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18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0BF7D35-2378-E60F-BB44-9F4A8B7CD7C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8</a:t>
            </a:fld>
            <a:endParaRPr lang="es-E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0526EA3-AFC5-9D1D-E391-B7DA9A9D7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2262" y="295275"/>
            <a:ext cx="5400675" cy="433387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CAC14DE-7679-F7EC-757C-C6F457DFA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990600"/>
            <a:ext cx="5179736" cy="3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115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945635" y="2636520"/>
            <a:ext cx="8246363" cy="15849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13326" y="3165729"/>
            <a:ext cx="22332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FFFFFF"/>
                </a:solidFill>
                <a:latin typeface="Lucida Sans"/>
                <a:cs typeface="Lucida Sans"/>
              </a:rPr>
              <a:t>Thank</a:t>
            </a:r>
            <a:r>
              <a:rPr sz="3200" b="1" spc="-5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200" b="1" dirty="0">
                <a:solidFill>
                  <a:srgbClr val="FFFFFF"/>
                </a:solidFill>
                <a:latin typeface="Lucida Sans"/>
                <a:cs typeface="Lucida Sans"/>
              </a:rPr>
              <a:t>you</a:t>
            </a:r>
            <a:endParaRPr sz="3200">
              <a:latin typeface="Lucida Sans"/>
              <a:cs typeface="Lucida Sans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52DA19-AD24-7D24-2AE9-51F8F5A7F5E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9</a:t>
            </a:fld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996</TotalTime>
  <Words>422</Words>
  <Application>Microsoft Office PowerPoint</Application>
  <PresentationFormat>Panorámica</PresentationFormat>
  <Paragraphs>88</Paragraphs>
  <Slides>9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7" baseType="lpstr">
      <vt:lpstr>Aptos</vt:lpstr>
      <vt:lpstr>Arial</vt:lpstr>
      <vt:lpstr>Calibri</vt:lpstr>
      <vt:lpstr>Cambria Math</vt:lpstr>
      <vt:lpstr>Lucida Sans</vt:lpstr>
      <vt:lpstr>Times New Roman</vt:lpstr>
      <vt:lpstr>Wingdings</vt:lpstr>
      <vt:lpstr>Office Theme</vt:lpstr>
      <vt:lpstr>Presentación de PowerPoint</vt:lpstr>
      <vt:lpstr>Instructions General</vt:lpstr>
      <vt:lpstr>Learning outcome #1 – Convergence tests DE waveguide, w = 1.2 µm, neff_TE0, wvl 1.55 µm. </vt:lpstr>
      <vt:lpstr>Learning outcome #2 – Width dependence Width 0.6 - 1.6 µm (step 0.1 µm) – Wavelength 1.55 µm </vt:lpstr>
      <vt:lpstr>Learning outcome #3 – Waveguide compact model Let’s model the waveguide using a second order polynomial:  n_eff (λ)=n_1+n_2 (λ-λ_0 )+n_3 (λ-λ_0 )^2 </vt:lpstr>
      <vt:lpstr>Learning outcome #4 – Bend waveguide radius vs. loss – deep Find  neff_TE0 for wvl 1.55 µm, width 1.0 µm for R=25,50,75,100, 125,150 µm </vt:lpstr>
      <vt:lpstr>Presentación de PowerPoint</vt:lpstr>
      <vt:lpstr>Presentación de PowerPoint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Mª Ester Calataytud</dc:creator>
  <cp:lastModifiedBy>Maria Romero Garcia</cp:lastModifiedBy>
  <cp:revision>12</cp:revision>
  <dcterms:created xsi:type="dcterms:W3CDTF">2025-01-27T02:46:57Z</dcterms:created>
  <dcterms:modified xsi:type="dcterms:W3CDTF">2026-03-05T20:14:56Z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2025-01-27T00:00:00Z</vt:filetime>
  </property>
</Properties>
</file>