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95" r:id="rId3"/>
    <p:sldId id="290" r:id="rId4"/>
    <p:sldId id="292" r:id="rId5"/>
    <p:sldId id="297" r:id="rId6"/>
    <p:sldId id="293" r:id="rId7"/>
    <p:sldId id="298" r:id="rId8"/>
    <p:sldId id="299" r:id="rId9"/>
    <p:sldId id="288" r:id="rId10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51" d="100"/>
          <a:sy n="51" d="100"/>
        </p:scale>
        <p:origin x="58" y="70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06/03/2026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06/03/2026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2.pn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283627" y="1460746"/>
            <a:ext cx="5812373" cy="3293082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496014" y="4859585"/>
            <a:ext cx="11199971" cy="203132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In the first plot, we can observe that from a grid resolution of 50 onward, the value converges and stabilizes around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= 1.605. We could use 50 as grid resolution value. However, we can also notice that the value at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= 20 is very close to the converged value. For this reason, it would be better to use 20 as grid resolution since it would reduce computational cost.</a:t>
            </a: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In the second plot, simulated at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= 20, we can observe that the effective index converges around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= 1.605 from a value of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= 1.5 onward. </a:t>
            </a:r>
          </a:p>
          <a:p>
            <a:pPr algn="just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Overall, an appropriate configuration is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= 20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= 1.5 in order to obtain a stable effective index with a reasonable simulation time. 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3B8B484-C556-BA90-FDD3-7B5571C4C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652" y="1463048"/>
            <a:ext cx="5812374" cy="316182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1E23C9E-53C7-5B9F-A370-894221BF90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7269" y="1446191"/>
            <a:ext cx="5959857" cy="3212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F4EB84E-6C9F-7354-8A57-423659699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1352464"/>
            <a:ext cx="5905500" cy="343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A151698-727C-8583-9AE5-D6B9E8F5C7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10262" y="1411368"/>
            <a:ext cx="6205538" cy="3411231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1EC07EE-FA51-FF37-4903-6D50F621B2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4060" y="1421304"/>
            <a:ext cx="5734671" cy="3152392"/>
          </a:xfrm>
          <a:prstGeom prst="rect">
            <a:avLst/>
          </a:prstGeom>
        </p:spPr>
      </p:pic>
      <p:pic>
        <p:nvPicPr>
          <p:cNvPr id="14" name="Imagen 13" descr="Texto&#10;&#10;El contenido generado por IA puede ser incorrecto.">
            <a:extLst>
              <a:ext uri="{FF2B5EF4-FFF2-40B4-BE49-F238E27FC236}">
                <a16:creationId xmlns:a16="http://schemas.microsoft.com/office/drawing/2014/main" id="{EEEE56E1-E96D-FA9B-236F-706EBBC5D90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5793" y="2450296"/>
            <a:ext cx="5448300" cy="3619500"/>
          </a:xfrm>
          <a:prstGeom prst="rect">
            <a:avLst/>
          </a:prstGeom>
        </p:spPr>
      </p:pic>
      <p:pic>
        <p:nvPicPr>
          <p:cNvPr id="17" name="Imagen 16" descr="Texto&#10;&#10;El contenido generado por IA puede ser incorrecto.">
            <a:extLst>
              <a:ext uri="{FF2B5EF4-FFF2-40B4-BE49-F238E27FC236}">
                <a16:creationId xmlns:a16="http://schemas.microsoft.com/office/drawing/2014/main" id="{AA956FA2-AD7C-EFF5-F77A-91C4C873015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90464" y="2168683"/>
            <a:ext cx="6000750" cy="370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3200400" y="2911778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C3A4C9A-F8AC-9BD8-BC33-202373CF7FF7}"/>
              </a:ext>
            </a:extLst>
          </p:cNvPr>
          <p:cNvSpPr txBox="1"/>
          <p:nvPr/>
        </p:nvSpPr>
        <p:spPr>
          <a:xfrm>
            <a:off x="4479276" y="1586669"/>
            <a:ext cx="1752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Safe</a:t>
            </a:r>
            <a:r>
              <a:rPr lang="es-ES" dirty="0"/>
              <a:t> </a:t>
            </a:r>
            <a:r>
              <a:rPr lang="es-ES" dirty="0" err="1"/>
              <a:t>radiu</a:t>
            </a:r>
            <a:r>
              <a:rPr lang="es-ES" dirty="0"/>
              <a:t> TE s : 75 -&gt; analizando que se ve que se estabiliza el índice a partir de </a:t>
            </a:r>
            <a:r>
              <a:rPr lang="es-ES" dirty="0" err="1"/>
              <a:t>ahi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584BE9C-4E02-1C5F-1A13-31EB6FE7F6CE}"/>
              </a:ext>
            </a:extLst>
          </p:cNvPr>
          <p:cNvSpPr txBox="1"/>
          <p:nvPr/>
        </p:nvSpPr>
        <p:spPr>
          <a:xfrm>
            <a:off x="7772400" y="2209800"/>
            <a:ext cx="2169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Safe</a:t>
            </a:r>
            <a:r>
              <a:rPr lang="es-ES" dirty="0"/>
              <a:t> </a:t>
            </a:r>
            <a:r>
              <a:rPr lang="es-ES" dirty="0" err="1"/>
              <a:t>radius</a:t>
            </a:r>
            <a:r>
              <a:rPr lang="es-ES" dirty="0"/>
              <a:t>: 50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C5F36ED-4157-C8D0-384E-8DF8E59CD9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127" y="1529762"/>
            <a:ext cx="3594093" cy="283908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F318440-5FBC-93FE-71CA-D4592689E8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0" y="2635622"/>
            <a:ext cx="4023957" cy="3087522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6EE2FD55-2C96-EE36-8DD6-EBAD47C070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8395" y="3640018"/>
            <a:ext cx="3754361" cy="2520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EBBD3C8-ECF7-96F6-561E-73501DE7A06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B28C5BF-6E00-F4C8-53D4-01F47458C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17154" y="39914"/>
            <a:ext cx="6515100" cy="35814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5823A1E-CA6E-2EDE-DB35-5535A6C19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1660" y="25400"/>
            <a:ext cx="6515100" cy="35814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9BDA460-8559-59C5-9C2C-CBCADC71AF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2163127"/>
            <a:ext cx="7534685" cy="4386263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3F18E53-796A-F2C5-AEC0-E10058D449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2710" y="2044065"/>
            <a:ext cx="5734050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0BF7D35-2378-E60F-BB44-9F4A8B7CD7C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0526EA3-AFC5-9D1D-E391-B7DA9A9D7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262" y="295275"/>
            <a:ext cx="5400675" cy="433387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CAC14DE-7679-F7EC-757C-C6F457DFA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990600"/>
            <a:ext cx="5179736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15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1028</TotalTime>
  <Words>561</Words>
  <Application>Microsoft Office PowerPoint</Application>
  <PresentationFormat>Panorámica</PresentationFormat>
  <Paragraphs>88</Paragraphs>
  <Slides>9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7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Presentación de PowerPoint</vt:lpstr>
      <vt:lpstr>Presentación de PowerPoint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Romero Garcia</cp:lastModifiedBy>
  <cp:revision>13</cp:revision>
  <dcterms:created xsi:type="dcterms:W3CDTF">2025-01-27T02:46:57Z</dcterms:created>
  <dcterms:modified xsi:type="dcterms:W3CDTF">2026-03-06T08:14:12Z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